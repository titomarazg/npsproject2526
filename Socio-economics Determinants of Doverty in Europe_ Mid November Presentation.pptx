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omments/modernComment_102_254EBAF4.xml" ContentType="application/vnd.ms-powerpoint.comments+xml"/>
  <Override PartName="/ppt/notesSlides/notesSlide1.xml" ContentType="application/vnd.openxmlformats-officedocument.presentationml.notesSlide+xml"/>
  <Override PartName="/ppt/comments/modernComment_101_199C786F.xml" ContentType="application/vnd.ms-powerpoint.comments+xml"/>
  <Override PartName="/ppt/comments/modernComment_106_1CAD7AC9.xml" ContentType="application/vnd.ms-powerpoint.comments+xml"/>
  <Override PartName="/ppt/comments/modernComment_107_E52E54B6.xml" ContentType="application/vnd.ms-powerpoint.comments+xml"/>
  <Override PartName="/ppt/comments/modernComment_108_B39B12C1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9"/>
  </p:notesMasterIdLst>
  <p:sldIdLst>
    <p:sldId id="258" r:id="rId2"/>
    <p:sldId id="257" r:id="rId3"/>
    <p:sldId id="262" r:id="rId4"/>
    <p:sldId id="263" r:id="rId5"/>
    <p:sldId id="264" r:id="rId6"/>
    <p:sldId id="259" r:id="rId7"/>
    <p:sldId id="261" r:id="rId8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C93BADD-A330-2777-A81A-5D305A68306E}" name="Leo Marcello Poli" initials="LP" userId="S::10715930@polimi.it::5fb95274-5e77-4ff0-998d-ba6cd261dd6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CFF983D-2989-9381-B953-17771403286B}" v="42" dt="2025-11-11T12:48:12.647"/>
    <p1510:client id="{F9AE3F72-ADA4-B04E-90D1-3158E09760E9}" v="190" dt="2025-11-11T12:22:32.32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15"/>
    <p:restoredTop sz="94687"/>
  </p:normalViewPr>
  <p:slideViewPr>
    <p:cSldViewPr snapToGrid="0">
      <p:cViewPr varScale="1">
        <p:scale>
          <a:sx n="95" d="100"/>
          <a:sy n="95" d="100"/>
        </p:scale>
        <p:origin x="200" y="5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ietro Filippo Schgor" userId="S::10710527@polimi.it::3b79221b-8856-43ef-81ae-db80fff86790" providerId="AD" clId="Web-{ACFF983D-2989-9381-B953-17771403286B}"/>
    <pc:docChg chg="modSld">
      <pc:chgData name="Pietro Filippo Schgor" userId="S::10710527@polimi.it::3b79221b-8856-43ef-81ae-db80fff86790" providerId="AD" clId="Web-{ACFF983D-2989-9381-B953-17771403286B}" dt="2025-11-11T12:48:07.240" v="43" actId="20577"/>
      <pc:docMkLst>
        <pc:docMk/>
      </pc:docMkLst>
      <pc:sldChg chg="addSp delSp modSp mod setBg">
        <pc:chgData name="Pietro Filippo Schgor" userId="S::10710527@polimi.it::3b79221b-8856-43ef-81ae-db80fff86790" providerId="AD" clId="Web-{ACFF983D-2989-9381-B953-17771403286B}" dt="2025-11-11T12:48:07.240" v="43" actId="20577"/>
        <pc:sldMkLst>
          <pc:docMk/>
          <pc:sldMk cId="991615614" sldId="259"/>
        </pc:sldMkLst>
        <pc:spChg chg="mod ord">
          <ac:chgData name="Pietro Filippo Schgor" userId="S::10710527@polimi.it::3b79221b-8856-43ef-81ae-db80fff86790" providerId="AD" clId="Web-{ACFF983D-2989-9381-B953-17771403286B}" dt="2025-11-11T12:48:07.240" v="43" actId="20577"/>
          <ac:spMkLst>
            <pc:docMk/>
            <pc:sldMk cId="991615614" sldId="259"/>
            <ac:spMk id="3" creationId="{D0C474CE-15AE-C9E6-9AAC-F09908C51B95}"/>
          </ac:spMkLst>
        </pc:spChg>
        <pc:spChg chg="add del">
          <ac:chgData name="Pietro Filippo Schgor" userId="S::10710527@polimi.it::3b79221b-8856-43ef-81ae-db80fff86790" providerId="AD" clId="Web-{ACFF983D-2989-9381-B953-17771403286B}" dt="2025-11-11T12:44:49.840" v="2"/>
          <ac:spMkLst>
            <pc:docMk/>
            <pc:sldMk cId="991615614" sldId="259"/>
            <ac:spMk id="8" creationId="{E49D7415-2F11-44C2-B6AA-13A25B6814B9}"/>
          </ac:spMkLst>
        </pc:spChg>
        <pc:spChg chg="add del">
          <ac:chgData name="Pietro Filippo Schgor" userId="S::10710527@polimi.it::3b79221b-8856-43ef-81ae-db80fff86790" providerId="AD" clId="Web-{ACFF983D-2989-9381-B953-17771403286B}" dt="2025-11-11T12:45:41.216" v="20"/>
          <ac:spMkLst>
            <pc:docMk/>
            <pc:sldMk cId="991615614" sldId="259"/>
            <ac:spMk id="14" creationId="{E49D7415-2F11-44C2-B6AA-13A25B6814B9}"/>
          </ac:spMkLst>
        </pc:spChg>
        <pc:picChg chg="add del mod">
          <ac:chgData name="Pietro Filippo Schgor" userId="S::10710527@polimi.it::3b79221b-8856-43ef-81ae-db80fff86790" providerId="AD" clId="Web-{ACFF983D-2989-9381-B953-17771403286B}" dt="2025-11-11T12:45:42.091" v="21"/>
          <ac:picMkLst>
            <pc:docMk/>
            <pc:sldMk cId="991615614" sldId="259"/>
            <ac:picMk id="2" creationId="{C4872D76-C50D-DB0D-6301-2017FAFAA036}"/>
          </ac:picMkLst>
        </pc:picChg>
        <pc:picChg chg="add mod modCrop">
          <ac:chgData name="Pietro Filippo Schgor" userId="S::10710527@polimi.it::3b79221b-8856-43ef-81ae-db80fff86790" providerId="AD" clId="Web-{ACFF983D-2989-9381-B953-17771403286B}" dt="2025-11-11T12:46:32.108" v="27" actId="1076"/>
          <ac:picMkLst>
            <pc:docMk/>
            <pc:sldMk cId="991615614" sldId="259"/>
            <ac:picMk id="4" creationId="{FBA3AB66-DEDD-E814-52FE-8861A7A772E8}"/>
          </ac:picMkLst>
        </pc:picChg>
        <pc:cxnChg chg="add del">
          <ac:chgData name="Pietro Filippo Schgor" userId="S::10710527@polimi.it::3b79221b-8856-43ef-81ae-db80fff86790" providerId="AD" clId="Web-{ACFF983D-2989-9381-B953-17771403286B}" dt="2025-11-11T12:44:49.840" v="2"/>
          <ac:cxnSpMkLst>
            <pc:docMk/>
            <pc:sldMk cId="991615614" sldId="259"/>
            <ac:cxnSpMk id="10" creationId="{D2E57F3D-33BE-4306-87E6-245763719516}"/>
          </ac:cxnSpMkLst>
        </pc:cxnChg>
        <pc:cxnChg chg="add del">
          <ac:chgData name="Pietro Filippo Schgor" userId="S::10710527@polimi.it::3b79221b-8856-43ef-81ae-db80fff86790" providerId="AD" clId="Web-{ACFF983D-2989-9381-B953-17771403286B}" dt="2025-11-11T12:44:49.840" v="2"/>
          <ac:cxnSpMkLst>
            <pc:docMk/>
            <pc:sldMk cId="991615614" sldId="259"/>
            <ac:cxnSpMk id="12" creationId="{8E0104E4-99BC-494F-8342-F250828E574F}"/>
          </ac:cxnSpMkLst>
        </pc:cxnChg>
        <pc:cxnChg chg="add del">
          <ac:chgData name="Pietro Filippo Schgor" userId="S::10710527@polimi.it::3b79221b-8856-43ef-81ae-db80fff86790" providerId="AD" clId="Web-{ACFF983D-2989-9381-B953-17771403286B}" dt="2025-11-11T12:45:41.216" v="20"/>
          <ac:cxnSpMkLst>
            <pc:docMk/>
            <pc:sldMk cId="991615614" sldId="259"/>
            <ac:cxnSpMk id="15" creationId="{A7C10D4C-8DED-200E-3237-3345F3F2A188}"/>
          </ac:cxnSpMkLst>
        </pc:cxnChg>
        <pc:cxnChg chg="add del">
          <ac:chgData name="Pietro Filippo Schgor" userId="S::10710527@polimi.it::3b79221b-8856-43ef-81ae-db80fff86790" providerId="AD" clId="Web-{ACFF983D-2989-9381-B953-17771403286B}" dt="2025-11-11T12:45:41.216" v="20"/>
          <ac:cxnSpMkLst>
            <pc:docMk/>
            <pc:sldMk cId="991615614" sldId="259"/>
            <ac:cxnSpMk id="16" creationId="{E8F7F80F-9EDD-0EEA-B6D7-E116EBA4FAD2}"/>
          </ac:cxnSpMkLst>
        </pc:cxnChg>
      </pc:sldChg>
    </pc:docChg>
  </pc:docChgLst>
  <pc:docChgLst>
    <pc:chgData name="Leo Marcello Poli" userId="5fb95274-5e77-4ff0-998d-ba6cd261dd6d" providerId="ADAL" clId="{FCCFB3CF-2DE2-5234-950E-6C59C634429D}"/>
    <pc:docChg chg="undo redo custSel addSld modSld sldOrd">
      <pc:chgData name="Leo Marcello Poli" userId="5fb95274-5e77-4ff0-998d-ba6cd261dd6d" providerId="ADAL" clId="{FCCFB3CF-2DE2-5234-950E-6C59C634429D}" dt="2025-11-11T12:22:43.428" v="546" actId="680"/>
      <pc:docMkLst>
        <pc:docMk/>
      </pc:docMkLst>
      <pc:sldChg chg="addSp delSp modSp mod">
        <pc:chgData name="Leo Marcello Poli" userId="5fb95274-5e77-4ff0-998d-ba6cd261dd6d" providerId="ADAL" clId="{FCCFB3CF-2DE2-5234-950E-6C59C634429D}" dt="2025-11-11T12:20:19.484" v="443" actId="931"/>
        <pc:sldMkLst>
          <pc:docMk/>
          <pc:sldMk cId="3621039622" sldId="256"/>
        </pc:sldMkLst>
        <pc:picChg chg="del mod">
          <ac:chgData name="Leo Marcello Poli" userId="5fb95274-5e77-4ff0-998d-ba6cd261dd6d" providerId="ADAL" clId="{FCCFB3CF-2DE2-5234-950E-6C59C634429D}" dt="2025-11-11T12:15:59.081" v="414" actId="478"/>
          <ac:picMkLst>
            <pc:docMk/>
            <pc:sldMk cId="3621039622" sldId="256"/>
            <ac:picMk id="4" creationId="{591DCBD6-9230-CE23-CA59-AB605705FD32}"/>
          </ac:picMkLst>
        </pc:picChg>
        <pc:picChg chg="add mod">
          <ac:chgData name="Leo Marcello Poli" userId="5fb95274-5e77-4ff0-998d-ba6cd261dd6d" providerId="ADAL" clId="{FCCFB3CF-2DE2-5234-950E-6C59C634429D}" dt="2025-11-11T12:20:19.484" v="443" actId="931"/>
          <ac:picMkLst>
            <pc:docMk/>
            <pc:sldMk cId="3621039622" sldId="256"/>
            <ac:picMk id="15" creationId="{159F21D8-C74B-8A44-42D9-5036F6419167}"/>
          </ac:picMkLst>
        </pc:picChg>
      </pc:sldChg>
      <pc:sldChg chg="delSp modSp mod">
        <pc:chgData name="Leo Marcello Poli" userId="5fb95274-5e77-4ff0-998d-ba6cd261dd6d" providerId="ADAL" clId="{FCCFB3CF-2DE2-5234-950E-6C59C634429D}" dt="2025-11-11T12:21:24.814" v="452" actId="1036"/>
        <pc:sldMkLst>
          <pc:docMk/>
          <pc:sldMk cId="429684847" sldId="257"/>
        </pc:sldMkLst>
        <pc:spChg chg="del mod">
          <ac:chgData name="Leo Marcello Poli" userId="5fb95274-5e77-4ff0-998d-ba6cd261dd6d" providerId="ADAL" clId="{FCCFB3CF-2DE2-5234-950E-6C59C634429D}" dt="2025-11-11T11:54:53.723" v="13" actId="478"/>
          <ac:spMkLst>
            <pc:docMk/>
            <pc:sldMk cId="429684847" sldId="257"/>
            <ac:spMk id="2" creationId="{4D400B7A-8BAC-4065-0E25-8A26B329F682}"/>
          </ac:spMkLst>
        </pc:spChg>
        <pc:spChg chg="mod">
          <ac:chgData name="Leo Marcello Poli" userId="5fb95274-5e77-4ff0-998d-ba6cd261dd6d" providerId="ADAL" clId="{FCCFB3CF-2DE2-5234-950E-6C59C634429D}" dt="2025-11-11T12:21:24.814" v="452" actId="1036"/>
          <ac:spMkLst>
            <pc:docMk/>
            <pc:sldMk cId="429684847" sldId="257"/>
            <ac:spMk id="3" creationId="{07756542-B89E-A953-D711-75130667CC78}"/>
          </ac:spMkLst>
        </pc:spChg>
      </pc:sldChg>
      <pc:sldChg chg="addSp delSp modSp add mod ord">
        <pc:chgData name="Leo Marcello Poli" userId="5fb95274-5e77-4ff0-998d-ba6cd261dd6d" providerId="ADAL" clId="{FCCFB3CF-2DE2-5234-950E-6C59C634429D}" dt="2025-11-11T12:19:11.408" v="442" actId="1035"/>
        <pc:sldMkLst>
          <pc:docMk/>
          <pc:sldMk cId="625916660" sldId="258"/>
        </pc:sldMkLst>
        <pc:spChg chg="del">
          <ac:chgData name="Leo Marcello Poli" userId="5fb95274-5e77-4ff0-998d-ba6cd261dd6d" providerId="ADAL" clId="{FCCFB3CF-2DE2-5234-950E-6C59C634429D}" dt="2025-11-11T12:16:24.200" v="417" actId="478"/>
          <ac:spMkLst>
            <pc:docMk/>
            <pc:sldMk cId="625916660" sldId="258"/>
            <ac:spMk id="3" creationId="{B5CA767D-EB89-3613-C214-F451C3F402D5}"/>
          </ac:spMkLst>
        </pc:spChg>
        <pc:spChg chg="add del mod">
          <ac:chgData name="Leo Marcello Poli" userId="5fb95274-5e77-4ff0-998d-ba6cd261dd6d" providerId="ADAL" clId="{FCCFB3CF-2DE2-5234-950E-6C59C634429D}" dt="2025-11-11T12:16:25.902" v="418" actId="478"/>
          <ac:spMkLst>
            <pc:docMk/>
            <pc:sldMk cId="625916660" sldId="258"/>
            <ac:spMk id="4" creationId="{B5386EEB-31B9-3CBC-8B70-6057F6B90DF9}"/>
          </ac:spMkLst>
        </pc:spChg>
        <pc:spChg chg="add mod">
          <ac:chgData name="Leo Marcello Poli" userId="5fb95274-5e77-4ff0-998d-ba6cd261dd6d" providerId="ADAL" clId="{FCCFB3CF-2DE2-5234-950E-6C59C634429D}" dt="2025-11-11T12:16:49.718" v="421" actId="255"/>
          <ac:spMkLst>
            <pc:docMk/>
            <pc:sldMk cId="625916660" sldId="258"/>
            <ac:spMk id="5" creationId="{253B4AD4-790E-ED64-E2DF-A99180959192}"/>
          </ac:spMkLst>
        </pc:spChg>
        <pc:spChg chg="add mod">
          <ac:chgData name="Leo Marcello Poli" userId="5fb95274-5e77-4ff0-998d-ba6cd261dd6d" providerId="ADAL" clId="{FCCFB3CF-2DE2-5234-950E-6C59C634429D}" dt="2025-11-11T12:18:26.802" v="436" actId="1076"/>
          <ac:spMkLst>
            <pc:docMk/>
            <pc:sldMk cId="625916660" sldId="258"/>
            <ac:spMk id="6" creationId="{4A5EBAC6-20D1-44C8-90F8-62A459C6BEC5}"/>
          </ac:spMkLst>
        </pc:spChg>
        <pc:spChg chg="add mod">
          <ac:chgData name="Leo Marcello Poli" userId="5fb95274-5e77-4ff0-998d-ba6cd261dd6d" providerId="ADAL" clId="{FCCFB3CF-2DE2-5234-950E-6C59C634429D}" dt="2025-11-11T12:18:26.802" v="436" actId="1076"/>
          <ac:spMkLst>
            <pc:docMk/>
            <pc:sldMk cId="625916660" sldId="258"/>
            <ac:spMk id="7" creationId="{F8719734-0815-C0BF-831A-4BC36107569A}"/>
          </ac:spMkLst>
        </pc:spChg>
        <pc:picChg chg="add mod">
          <ac:chgData name="Leo Marcello Poli" userId="5fb95274-5e77-4ff0-998d-ba6cd261dd6d" providerId="ADAL" clId="{FCCFB3CF-2DE2-5234-950E-6C59C634429D}" dt="2025-11-11T12:19:11.408" v="442" actId="1035"/>
          <ac:picMkLst>
            <pc:docMk/>
            <pc:sldMk cId="625916660" sldId="258"/>
            <ac:picMk id="8" creationId="{155101A1-289F-3F4A-530A-44D4AB055564}"/>
          </ac:picMkLst>
        </pc:picChg>
      </pc:sldChg>
      <pc:sldChg chg="modSp add mod">
        <pc:chgData name="Leo Marcello Poli" userId="5fb95274-5e77-4ff0-998d-ba6cd261dd6d" providerId="ADAL" clId="{FCCFB3CF-2DE2-5234-950E-6C59C634429D}" dt="2025-11-11T12:22:32.329" v="545" actId="14100"/>
        <pc:sldMkLst>
          <pc:docMk/>
          <pc:sldMk cId="991615614" sldId="259"/>
        </pc:sldMkLst>
        <pc:spChg chg="mod">
          <ac:chgData name="Leo Marcello Poli" userId="5fb95274-5e77-4ff0-998d-ba6cd261dd6d" providerId="ADAL" clId="{FCCFB3CF-2DE2-5234-950E-6C59C634429D}" dt="2025-11-11T12:22:32.329" v="545" actId="14100"/>
          <ac:spMkLst>
            <pc:docMk/>
            <pc:sldMk cId="991615614" sldId="259"/>
            <ac:spMk id="3" creationId="{D0C474CE-15AE-C9E6-9AAC-F09908C51B95}"/>
          </ac:spMkLst>
        </pc:spChg>
      </pc:sldChg>
      <pc:sldChg chg="new">
        <pc:chgData name="Leo Marcello Poli" userId="5fb95274-5e77-4ff0-998d-ba6cd261dd6d" providerId="ADAL" clId="{FCCFB3CF-2DE2-5234-950E-6C59C634429D}" dt="2025-11-11T12:22:43.428" v="546" actId="680"/>
        <pc:sldMkLst>
          <pc:docMk/>
          <pc:sldMk cId="1531098446" sldId="260"/>
        </pc:sldMkLst>
      </pc:sldChg>
    </pc:docChg>
  </pc:docChgLst>
</pc:chgInfo>
</file>

<file path=ppt/comments/modernComment_101_199C786F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2E112E1B-D782-5046-A633-F30061D96FC7}" authorId="{5C93BADD-A330-2777-A81A-5D305A68306E}" created="2025-11-11T14:52:46.871">
    <pc:sldMkLst xmlns:pc="http://schemas.microsoft.com/office/powerpoint/2013/main/command">
      <pc:docMk/>
      <pc:sldMk cId="429684847" sldId="257"/>
    </pc:sldMkLst>
    <p188:txBody>
      <a:bodyPr/>
      <a:lstStyle/>
      <a:p>
        <a:r>
          <a:rPr lang="it-IT"/>
          <a:t>Dataset description
</a:t>
        </a:r>
      </a:p>
    </p188:txBody>
  </p188:cm>
</p188:cmLst>
</file>

<file path=ppt/comments/modernComment_102_254EBA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FEED3D6F-93C8-C94C-BA10-A039D519CD03}" authorId="{5C93BADD-A330-2777-A81A-5D305A68306E}" created="2025-11-11T14:52:25.794">
    <pc:sldMkLst xmlns:pc="http://schemas.microsoft.com/office/powerpoint/2013/main/command">
      <pc:docMk/>
      <pc:sldMk cId="625916660" sldId="258"/>
    </pc:sldMkLst>
    <p188:txBody>
      <a:bodyPr/>
      <a:lstStyle/>
      <a:p>
        <a:r>
          <a:rPr lang="it-IT"/>
          <a:t>Titolo
</a:t>
        </a:r>
      </a:p>
    </p188:txBody>
  </p188:cm>
</p188:cmLst>
</file>

<file path=ppt/comments/modernComment_106_1CAD7AC9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CF2BB5D-134C-4044-AD87-8494DC0EAB41}" authorId="{5C93BADD-A330-2777-A81A-5D305A68306E}" created="2025-11-11T14:53:09.362">
    <pc:sldMkLst xmlns:pc="http://schemas.microsoft.com/office/powerpoint/2013/main/command">
      <pc:docMk/>
      <pc:sldMk cId="481131209" sldId="262"/>
    </pc:sldMkLst>
    <p188:txBody>
      <a:bodyPr/>
      <a:lstStyle/>
      <a:p>
        <a:r>
          <a:rPr lang="it-IT"/>
          <a:t>Tentative goals of the projcet
#1</a:t>
        </a:r>
      </a:p>
    </p188:txBody>
  </p188:cm>
</p188:cmLst>
</file>

<file path=ppt/comments/modernComment_107_E52E54B6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8D5C4831-0438-F04C-ADB9-DE6F64B52A16}" authorId="{5C93BADD-A330-2777-A81A-5D305A68306E}" created="2025-11-11T14:53:23.253">
    <pc:sldMkLst xmlns:pc="http://schemas.microsoft.com/office/powerpoint/2013/main/command">
      <pc:docMk/>
      <pc:sldMk cId="3845018806" sldId="263"/>
    </pc:sldMkLst>
    <p188:txBody>
      <a:bodyPr/>
      <a:lstStyle/>
      <a:p>
        <a:r>
          <a:rPr lang="it-IT"/>
          <a:t>Tentative goals of the projcet
#2 tipo</a:t>
        </a:r>
      </a:p>
    </p188:txBody>
  </p188:cm>
</p188:cmLst>
</file>

<file path=ppt/comments/modernComment_108_B39B12C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1169DDC-D977-9B4A-9EE1-B284C7604879}" authorId="{5C93BADD-A330-2777-A81A-5D305A68306E}" created="2025-11-11T14:53:40.934">
    <pc:sldMkLst xmlns:pc="http://schemas.microsoft.com/office/powerpoint/2013/main/command">
      <pc:docMk/>
      <pc:sldMk cId="3013284545" sldId="264"/>
    </pc:sldMkLst>
    <p188:txBody>
      <a:bodyPr/>
      <a:lstStyle/>
      <a:p>
        <a:r>
          <a:rPr lang="it-IT"/>
          <a:t>Tentative analytical workflow (i.e., which tools you plan to use)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0A9872A-8211-0640-8E4E-75E57E949337}" type="datetimeFigureOut">
              <a:rPr lang="it-IT" smtClean="0"/>
              <a:t>11/11/25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8A93E82-6BDB-B048-BE95-AC13F57499C0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64296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8A93E82-6BDB-B048-BE95-AC13F57499C0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9046782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04088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4088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1D1EADE-8E88-4C7C-8AC5-FB148DE4940E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6760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7B6794-849E-4626-908B-D15793550EFB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2537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DB64E7-5594-42A3-ADBF-E95A7ACEAD64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55061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04088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81344" y="2221992"/>
            <a:ext cx="5212080" cy="37398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462B0B-D248-4FFB-8695-AD7FA4B1284A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9513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7" y="929147"/>
            <a:ext cx="10689336" cy="79845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4088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04088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81344" y="1756538"/>
            <a:ext cx="5212080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81344" y="2442702"/>
            <a:ext cx="5212080" cy="351918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378EFB-9159-4510-B73F-4F0409ADE937}" type="datetime1">
              <a:rPr lang="en-US" smtClean="0"/>
              <a:t>11/11/25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3687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BC9412-2452-4BED-A324-9D8C115361AD}" type="datetime1">
              <a:rPr lang="en-US" smtClean="0"/>
              <a:t>11/11/25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2113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318F62-D251-40E8-A23C-F4CFE9FEAB41}" type="datetime1">
              <a:rPr lang="en-US" smtClean="0"/>
              <a:t>11/11/25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7070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9848"/>
            <a:ext cx="4093599" cy="131673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69848"/>
            <a:ext cx="6172200" cy="479120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1176"/>
            <a:ext cx="4093599" cy="3319272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F76144-149E-4874-93A5-554A0357CF82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3283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4088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4088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BA65D8-0540-4835-AE5C-25D29DBA01BE}" type="datetime1">
              <a:rPr lang="en-US" smtClean="0"/>
              <a:t>11/11/25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1912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3C8B9C-477D-492A-96AD-1FC2CC997A73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0012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768927" y="997973"/>
            <a:ext cx="8473395" cy="49849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D3AED5-E26D-4E29-B1B3-7847B6779594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86328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14400"/>
            <a:ext cx="10691265" cy="1307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21992"/>
            <a:ext cx="10691265" cy="373989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495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E31BA835-12AC-4E8F-955A-EA3F4DE2791F}" type="datetime1">
              <a:rPr lang="en-US" smtClean="0"/>
              <a:t>11/11/25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04088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87E7843D-FF13-4365-9478-9625B70A2705}" type="slidenum">
              <a:rPr lang="en-US" smtClean="0"/>
              <a:t>‹N›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0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0" r:id="rId2"/>
    <p:sldLayoutId id="2147483669" r:id="rId3"/>
    <p:sldLayoutId id="2147483668" r:id="rId4"/>
    <p:sldLayoutId id="2147483667" r:id="rId5"/>
    <p:sldLayoutId id="2147483666" r:id="rId6"/>
    <p:sldLayoutId id="2147483665" r:id="rId7"/>
    <p:sldLayoutId id="2147483664" r:id="rId8"/>
    <p:sldLayoutId id="2147483663" r:id="rId9"/>
    <p:sldLayoutId id="2147483662" r:id="rId10"/>
    <p:sldLayoutId id="2147483661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microsoft.com/office/2018/10/relationships/comments" Target="../comments/modernComment_102_254EBAF4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01_199C786F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6_1CAD7AC9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7_E52E54B6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8_B39B12C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1331C-8271-FE1E-3E1C-E9A79E9DF8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olo 1">
            <a:extLst>
              <a:ext uri="{FF2B5EF4-FFF2-40B4-BE49-F238E27FC236}">
                <a16:creationId xmlns:a16="http://schemas.microsoft.com/office/drawing/2014/main" id="{253B4AD4-790E-ED64-E2DF-A99180959192}"/>
              </a:ext>
            </a:extLst>
          </p:cNvPr>
          <p:cNvSpPr txBox="1">
            <a:spLocks/>
          </p:cNvSpPr>
          <p:nvPr/>
        </p:nvSpPr>
        <p:spPr>
          <a:xfrm>
            <a:off x="703400" y="871759"/>
            <a:ext cx="10696120" cy="1703801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000" kern="1200" cap="all" spc="3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it-IT" sz="5400"/>
              <a:t>Socio-</a:t>
            </a:r>
            <a:r>
              <a:rPr lang="it-IT" sz="5400" err="1"/>
              <a:t>economics</a:t>
            </a:r>
            <a:r>
              <a:rPr lang="it-IT" sz="5400"/>
              <a:t> </a:t>
            </a:r>
            <a:r>
              <a:rPr lang="it-IT" sz="5400" err="1"/>
              <a:t>determinants</a:t>
            </a:r>
            <a:r>
              <a:rPr lang="it-IT" sz="5400"/>
              <a:t> of </a:t>
            </a:r>
            <a:r>
              <a:rPr lang="it-IT" sz="5400" err="1"/>
              <a:t>poverty</a:t>
            </a:r>
            <a:r>
              <a:rPr lang="it-IT" sz="5400"/>
              <a:t> in </a:t>
            </a:r>
            <a:r>
              <a:rPr lang="it-IT" sz="5400" err="1"/>
              <a:t>europe</a:t>
            </a:r>
            <a:endParaRPr lang="it-IT" sz="5400"/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4A5EBAC6-20D1-44C8-90F8-62A459C6BEC5}"/>
              </a:ext>
            </a:extLst>
          </p:cNvPr>
          <p:cNvSpPr txBox="1">
            <a:spLocks/>
          </p:cNvSpPr>
          <p:nvPr/>
        </p:nvSpPr>
        <p:spPr>
          <a:xfrm>
            <a:off x="703400" y="4090233"/>
            <a:ext cx="4857857" cy="1005657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1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it-IT"/>
              <a:t>Tito Rodolfo </a:t>
            </a:r>
            <a:r>
              <a:rPr lang="it-IT" err="1"/>
              <a:t>Maraz</a:t>
            </a:r>
            <a:r>
              <a:rPr lang="it-IT"/>
              <a:t> Galassi - 278030</a:t>
            </a:r>
          </a:p>
          <a:p>
            <a:pPr marL="0" indent="0">
              <a:buNone/>
            </a:pPr>
            <a:r>
              <a:rPr lang="it-IT"/>
              <a:t>Leo Marcello Poli – 280899</a:t>
            </a:r>
          </a:p>
          <a:p>
            <a:pPr marL="0" indent="0">
              <a:buNone/>
            </a:pPr>
            <a:r>
              <a:rPr lang="it-IT"/>
              <a:t>Pietro Filippo </a:t>
            </a:r>
            <a:r>
              <a:rPr lang="it-IT" err="1"/>
              <a:t>Schgor</a:t>
            </a:r>
            <a:r>
              <a:rPr lang="it-IT"/>
              <a:t> - 258727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F8719734-0815-C0BF-831A-4BC36107569A}"/>
              </a:ext>
            </a:extLst>
          </p:cNvPr>
          <p:cNvSpPr txBox="1"/>
          <p:nvPr/>
        </p:nvSpPr>
        <p:spPr>
          <a:xfrm>
            <a:off x="703400" y="5616909"/>
            <a:ext cx="3653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err="1"/>
              <a:t>Nonparametric</a:t>
            </a:r>
            <a:r>
              <a:rPr lang="it-IT"/>
              <a:t> </a:t>
            </a:r>
            <a:r>
              <a:rPr lang="it-IT" err="1"/>
              <a:t>Statistics</a:t>
            </a:r>
            <a:r>
              <a:rPr lang="it-IT"/>
              <a:t> 2025-2026</a:t>
            </a:r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55101A1-289F-3F4A-530A-44D4AB055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0284" y="3836720"/>
            <a:ext cx="2769236" cy="2035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91666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7756542-B89E-A953-D711-75130667CC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50367" y="1120140"/>
            <a:ext cx="10691265" cy="582930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it-IT" sz="2100" dirty="0" err="1"/>
              <a:t>This</a:t>
            </a:r>
            <a:r>
              <a:rPr lang="it-IT" sz="2100" dirty="0"/>
              <a:t> dataset, </a:t>
            </a:r>
            <a:r>
              <a:rPr lang="it-IT" sz="2100" dirty="0" err="1"/>
              <a:t>sourced</a:t>
            </a:r>
            <a:r>
              <a:rPr lang="it-IT" sz="2100" dirty="0"/>
              <a:t> from </a:t>
            </a:r>
            <a:r>
              <a:rPr lang="it-IT" sz="2100" b="1" dirty="0"/>
              <a:t>Eurostat</a:t>
            </a:r>
            <a:r>
              <a:rPr lang="it-IT" sz="2100" dirty="0"/>
              <a:t>, </a:t>
            </a:r>
            <a:r>
              <a:rPr lang="it-IT" sz="2100" dirty="0" err="1"/>
              <a:t>integrates</a:t>
            </a:r>
            <a:r>
              <a:rPr lang="it-IT" sz="2100" dirty="0"/>
              <a:t> </a:t>
            </a:r>
            <a:r>
              <a:rPr lang="it-IT" sz="2100" dirty="0" err="1"/>
              <a:t>two</a:t>
            </a:r>
            <a:r>
              <a:rPr lang="it-IT" sz="2100" dirty="0"/>
              <a:t> key </a:t>
            </a:r>
            <a:r>
              <a:rPr lang="it-IT" sz="2100" dirty="0" err="1"/>
              <a:t>components</a:t>
            </a:r>
            <a:r>
              <a:rPr lang="it-IT" sz="2100" dirty="0"/>
              <a:t>: the </a:t>
            </a:r>
            <a:r>
              <a:rPr lang="it-IT" sz="2100" b="1" dirty="0"/>
              <a:t>At-risk-of-</a:t>
            </a:r>
            <a:r>
              <a:rPr lang="it-IT" sz="2100" b="1" dirty="0" err="1"/>
              <a:t>poverty</a:t>
            </a:r>
            <a:r>
              <a:rPr lang="it-IT" sz="2100" b="1" dirty="0"/>
              <a:t> rate</a:t>
            </a:r>
            <a:r>
              <a:rPr lang="it-IT" sz="2100" dirty="0"/>
              <a:t> and </a:t>
            </a:r>
            <a:r>
              <a:rPr lang="it-IT" sz="2100" b="1" dirty="0"/>
              <a:t>Social </a:t>
            </a:r>
            <a:r>
              <a:rPr lang="it-IT" sz="2100" b="1" dirty="0" err="1"/>
              <a:t>Protection</a:t>
            </a:r>
            <a:r>
              <a:rPr lang="it-IT" sz="2100" b="1" dirty="0"/>
              <a:t> </a:t>
            </a:r>
            <a:r>
              <a:rPr lang="it-IT" sz="2100" b="1" dirty="0" err="1"/>
              <a:t>Expenditures</a:t>
            </a:r>
            <a:r>
              <a:rPr lang="it-IT" sz="2100" dirty="0"/>
              <a:t> data.</a:t>
            </a:r>
          </a:p>
          <a:p>
            <a:pPr marL="0" indent="0">
              <a:buNone/>
            </a:pPr>
            <a:r>
              <a:rPr lang="it-IT" sz="2100" dirty="0"/>
              <a:t>The scope of the </a:t>
            </a:r>
            <a:r>
              <a:rPr lang="it-IT" sz="2100" dirty="0" err="1"/>
              <a:t>analysis</a:t>
            </a:r>
            <a:r>
              <a:rPr lang="it-IT" sz="2100" dirty="0"/>
              <a:t> covers </a:t>
            </a:r>
            <a:r>
              <a:rPr lang="it-IT" sz="2100" b="1" dirty="0"/>
              <a:t>36 </a:t>
            </a:r>
            <a:r>
              <a:rPr lang="it-IT" sz="2100" b="1" dirty="0" err="1"/>
              <a:t>European</a:t>
            </a:r>
            <a:r>
              <a:rPr lang="it-IT" sz="2100" b="1" dirty="0"/>
              <a:t> countries</a:t>
            </a:r>
            <a:r>
              <a:rPr lang="it-IT" sz="2100" dirty="0"/>
              <a:t> over the </a:t>
            </a:r>
            <a:r>
              <a:rPr lang="it-IT" sz="2100" dirty="0" err="1"/>
              <a:t>period</a:t>
            </a:r>
            <a:r>
              <a:rPr lang="it-IT" sz="2100" dirty="0"/>
              <a:t> </a:t>
            </a:r>
            <a:r>
              <a:rPr lang="it-IT" sz="2100" b="1" dirty="0"/>
              <a:t>2015 to 2023</a:t>
            </a:r>
            <a:r>
              <a:rPr lang="it-IT" sz="2100" dirty="0"/>
              <a:t>.</a:t>
            </a:r>
          </a:p>
          <a:p>
            <a:pPr marL="0" indent="0">
              <a:buNone/>
            </a:pPr>
            <a:r>
              <a:rPr lang="it-IT" sz="2100" dirty="0"/>
              <a:t>The Social </a:t>
            </a:r>
            <a:r>
              <a:rPr lang="it-IT" sz="2100" dirty="0" err="1"/>
              <a:t>Protection</a:t>
            </a:r>
            <a:r>
              <a:rPr lang="it-IT" sz="2100" dirty="0"/>
              <a:t> </a:t>
            </a:r>
            <a:r>
              <a:rPr lang="it-IT" sz="2100" dirty="0" err="1"/>
              <a:t>Expenditures</a:t>
            </a:r>
            <a:r>
              <a:rPr lang="it-IT" sz="2100" dirty="0"/>
              <a:t> component </a:t>
            </a:r>
            <a:r>
              <a:rPr lang="it-IT" sz="2100" dirty="0" err="1"/>
              <a:t>is</a:t>
            </a:r>
            <a:r>
              <a:rPr lang="it-IT" sz="2100" dirty="0"/>
              <a:t> </a:t>
            </a:r>
            <a:r>
              <a:rPr lang="it-IT" sz="2100" dirty="0" err="1"/>
              <a:t>broken</a:t>
            </a:r>
            <a:r>
              <a:rPr lang="it-IT" sz="2100" dirty="0"/>
              <a:t> down </a:t>
            </a:r>
            <a:r>
              <a:rPr lang="it-IT" sz="2100" dirty="0" err="1"/>
              <a:t>according</a:t>
            </a:r>
            <a:r>
              <a:rPr lang="it-IT" sz="2100" dirty="0"/>
              <a:t> to </a:t>
            </a:r>
            <a:r>
              <a:rPr lang="it-IT" sz="2100" dirty="0" err="1"/>
              <a:t>two</a:t>
            </a:r>
            <a:r>
              <a:rPr lang="it-IT" sz="2100" dirty="0"/>
              <a:t> </a:t>
            </a:r>
            <a:r>
              <a:rPr lang="it-IT" sz="2100" dirty="0" err="1"/>
              <a:t>main</a:t>
            </a:r>
            <a:r>
              <a:rPr lang="it-IT" sz="2100" dirty="0"/>
              <a:t> </a:t>
            </a:r>
            <a:r>
              <a:rPr lang="it-IT" sz="2100" dirty="0" err="1"/>
              <a:t>classifications</a:t>
            </a:r>
            <a:r>
              <a:rPr lang="it-IT" sz="2100" dirty="0"/>
              <a:t>:</a:t>
            </a:r>
          </a:p>
          <a:p>
            <a:pPr>
              <a:buFontTx/>
              <a:buChar char="-"/>
            </a:pPr>
            <a:r>
              <a:rPr lang="it-IT" sz="2100" dirty="0" err="1"/>
              <a:t>classification</a:t>
            </a:r>
            <a:r>
              <a:rPr lang="it-IT" sz="2100" dirty="0"/>
              <a:t> by 8 </a:t>
            </a:r>
            <a:r>
              <a:rPr lang="it-IT" sz="2100" dirty="0" err="1"/>
              <a:t>different</a:t>
            </a:r>
            <a:r>
              <a:rPr lang="it-IT" sz="2100" dirty="0"/>
              <a:t> </a:t>
            </a:r>
            <a:r>
              <a:rPr lang="it-IT" sz="2100" b="1" dirty="0" err="1"/>
              <a:t>Function</a:t>
            </a:r>
            <a:r>
              <a:rPr lang="it-IT" sz="2100" dirty="0"/>
              <a:t>: 		  		            </a:t>
            </a:r>
            <a:r>
              <a:rPr lang="it-IT" sz="2100" dirty="0" err="1"/>
              <a:t>Sickness</a:t>
            </a:r>
            <a:r>
              <a:rPr lang="it-IT" sz="2100" dirty="0"/>
              <a:t>/Healthcare, </a:t>
            </a:r>
            <a:r>
              <a:rPr lang="it-IT" sz="2100" dirty="0" err="1"/>
              <a:t>Disability</a:t>
            </a:r>
            <a:r>
              <a:rPr lang="it-IT" sz="2100" dirty="0"/>
              <a:t>, </a:t>
            </a:r>
            <a:r>
              <a:rPr lang="it-IT" sz="2100" dirty="0" err="1"/>
              <a:t>Old</a:t>
            </a:r>
            <a:r>
              <a:rPr lang="it-IT" sz="2100" dirty="0"/>
              <a:t> age, </a:t>
            </a:r>
            <a:r>
              <a:rPr lang="it-IT" sz="2100" dirty="0" err="1"/>
              <a:t>Survivors</a:t>
            </a:r>
            <a:r>
              <a:rPr lang="it-IT" sz="2100" dirty="0"/>
              <a:t>, Family/</a:t>
            </a:r>
            <a:r>
              <a:rPr lang="it-IT" sz="2100" dirty="0" err="1"/>
              <a:t>children</a:t>
            </a:r>
            <a:r>
              <a:rPr lang="it-IT" sz="2100" dirty="0"/>
              <a:t>, </a:t>
            </a:r>
            <a:r>
              <a:rPr lang="it-IT" sz="2100" dirty="0" err="1"/>
              <a:t>Unemployment</a:t>
            </a:r>
            <a:r>
              <a:rPr lang="it-IT" sz="2100" dirty="0"/>
              <a:t>, Housing and Social </a:t>
            </a:r>
            <a:r>
              <a:rPr lang="it-IT" sz="2100" dirty="0" err="1"/>
              <a:t>exclusion</a:t>
            </a:r>
            <a:r>
              <a:rPr lang="it-IT" sz="2100" dirty="0"/>
              <a:t> (</a:t>
            </a:r>
            <a:r>
              <a:rPr lang="it-IT" sz="2100" dirty="0" err="1"/>
              <a:t>not</a:t>
            </a:r>
            <a:r>
              <a:rPr lang="it-IT" sz="2100" dirty="0"/>
              <a:t> </a:t>
            </a:r>
            <a:r>
              <a:rPr lang="it-IT" sz="2100" dirty="0" err="1"/>
              <a:t>elsewhere</a:t>
            </a:r>
            <a:r>
              <a:rPr lang="it-IT" sz="2100" dirty="0"/>
              <a:t> </a:t>
            </a:r>
            <a:r>
              <a:rPr lang="it-IT" sz="2100" dirty="0" err="1"/>
              <a:t>classified</a:t>
            </a:r>
            <a:r>
              <a:rPr lang="it-IT" sz="2100" dirty="0"/>
              <a:t>);</a:t>
            </a:r>
          </a:p>
          <a:p>
            <a:pPr>
              <a:buFontTx/>
              <a:buChar char="-"/>
            </a:pPr>
            <a:r>
              <a:rPr lang="it-IT" sz="2100" dirty="0" err="1"/>
              <a:t>classification</a:t>
            </a:r>
            <a:r>
              <a:rPr lang="it-IT" sz="2100" dirty="0"/>
              <a:t> by 2 </a:t>
            </a:r>
            <a:r>
              <a:rPr lang="it-IT" sz="2100" dirty="0" err="1"/>
              <a:t>different</a:t>
            </a:r>
            <a:r>
              <a:rPr lang="it-IT" sz="2100" dirty="0"/>
              <a:t> </a:t>
            </a:r>
            <a:r>
              <a:rPr lang="it-IT" sz="2100" b="1" dirty="0" err="1"/>
              <a:t>Type</a:t>
            </a:r>
            <a:r>
              <a:rPr lang="it-IT" sz="2100" dirty="0"/>
              <a:t>:                                                                                   Benefits in </a:t>
            </a:r>
            <a:r>
              <a:rPr lang="it-IT" sz="2100" dirty="0" err="1"/>
              <a:t>kind</a:t>
            </a:r>
            <a:r>
              <a:rPr lang="it-IT" sz="2100" dirty="0"/>
              <a:t> and cash benefits.</a:t>
            </a:r>
          </a:p>
          <a:p>
            <a:pPr marL="0" indent="0">
              <a:buNone/>
            </a:pPr>
            <a:endParaRPr lang="it-IT" sz="2100" dirty="0"/>
          </a:p>
        </p:txBody>
      </p:sp>
    </p:spTree>
    <p:extLst>
      <p:ext uri="{BB962C8B-B14F-4D97-AF65-F5344CB8AC3E}">
        <p14:creationId xmlns:p14="http://schemas.microsoft.com/office/powerpoint/2010/main" val="42968484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B5424-A193-585E-E292-2B837C397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5E6FC7-CE5C-C2D7-FDBA-5B9BDFB02F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23060"/>
            <a:ext cx="10691265" cy="4338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100" dirty="0" err="1"/>
              <a:t>This</a:t>
            </a:r>
            <a:r>
              <a:rPr lang="it-IT" sz="2100" dirty="0"/>
              <a:t> </a:t>
            </a:r>
            <a:r>
              <a:rPr lang="it-IT" sz="2100" dirty="0" err="1"/>
              <a:t>analysis</a:t>
            </a:r>
            <a:r>
              <a:rPr lang="it-IT" sz="2100" dirty="0"/>
              <a:t> </a:t>
            </a:r>
            <a:r>
              <a:rPr lang="it-IT" sz="2100" dirty="0" err="1"/>
              <a:t>aims</a:t>
            </a:r>
            <a:r>
              <a:rPr lang="it-IT" sz="2100" dirty="0"/>
              <a:t> to investigate the </a:t>
            </a:r>
            <a:r>
              <a:rPr lang="it-IT" sz="2100" b="1" dirty="0" err="1"/>
              <a:t>effectiveness</a:t>
            </a:r>
            <a:r>
              <a:rPr lang="it-IT" sz="2100" dirty="0"/>
              <a:t> of </a:t>
            </a:r>
            <a:r>
              <a:rPr lang="it-IT" sz="2100" dirty="0" err="1"/>
              <a:t>different</a:t>
            </a:r>
            <a:r>
              <a:rPr lang="it-IT" sz="2100" dirty="0"/>
              <a:t> national social spending </a:t>
            </a:r>
            <a:r>
              <a:rPr lang="it-IT" sz="2100" b="1" dirty="0"/>
              <a:t>strategies</a:t>
            </a:r>
            <a:r>
              <a:rPr lang="it-IT" sz="2100" dirty="0"/>
              <a:t> by </a:t>
            </a:r>
            <a:r>
              <a:rPr lang="it-IT" sz="2100" dirty="0" err="1"/>
              <a:t>examining</a:t>
            </a:r>
            <a:r>
              <a:rPr lang="it-IT" sz="2100" dirty="0"/>
              <a:t> </a:t>
            </a:r>
            <a:r>
              <a:rPr lang="it-IT" sz="2100" dirty="0" err="1"/>
              <a:t>their</a:t>
            </a:r>
            <a:r>
              <a:rPr lang="it-IT" sz="2100" dirty="0"/>
              <a:t> </a:t>
            </a:r>
            <a:r>
              <a:rPr lang="it-IT" sz="2100" dirty="0" err="1"/>
              <a:t>relationship</a:t>
            </a:r>
            <a:r>
              <a:rPr lang="it-IT" sz="2100" dirty="0"/>
              <a:t> with </a:t>
            </a:r>
            <a:r>
              <a:rPr lang="it-IT" sz="2100" dirty="0" err="1"/>
              <a:t>at</a:t>
            </a:r>
            <a:r>
              <a:rPr lang="it-IT" sz="2100" dirty="0"/>
              <a:t>-risk-of-</a:t>
            </a:r>
            <a:r>
              <a:rPr lang="it-IT" sz="2100" dirty="0" err="1"/>
              <a:t>poverty</a:t>
            </a:r>
            <a:r>
              <a:rPr lang="it-IT" sz="2100" dirty="0"/>
              <a:t> rates.</a:t>
            </a:r>
          </a:p>
          <a:p>
            <a:pPr marL="0" indent="0">
              <a:buNone/>
            </a:pPr>
            <a:r>
              <a:rPr lang="it-IT" sz="2100" dirty="0"/>
              <a:t>The core </a:t>
            </a:r>
            <a:r>
              <a:rPr lang="it-IT" sz="2100" dirty="0" err="1"/>
              <a:t>objectives</a:t>
            </a:r>
            <a:r>
              <a:rPr lang="it-IT" sz="2100" dirty="0"/>
              <a:t> are </a:t>
            </a:r>
            <a:r>
              <a:rPr lang="it-IT" sz="2100" dirty="0" err="1"/>
              <a:t>twofold</a:t>
            </a:r>
            <a:r>
              <a:rPr lang="it-IT" sz="2100" dirty="0"/>
              <a:t>: first, to </a:t>
            </a:r>
            <a:r>
              <a:rPr lang="it-IT" sz="2100" dirty="0" err="1"/>
              <a:t>identify</a:t>
            </a:r>
            <a:r>
              <a:rPr lang="it-IT" sz="2100" dirty="0"/>
              <a:t> </a:t>
            </a:r>
            <a:r>
              <a:rPr lang="it-IT" sz="2100" dirty="0" err="1"/>
              <a:t>which</a:t>
            </a:r>
            <a:r>
              <a:rPr lang="it-IT" sz="2100" dirty="0"/>
              <a:t> countries </a:t>
            </a:r>
            <a:r>
              <a:rPr lang="it-IT" sz="2100" dirty="0" err="1"/>
              <a:t>demonstrate</a:t>
            </a:r>
            <a:r>
              <a:rPr lang="it-IT" sz="2100" dirty="0"/>
              <a:t> the </a:t>
            </a:r>
            <a:r>
              <a:rPr lang="it-IT" sz="2100" dirty="0" err="1"/>
              <a:t>most</a:t>
            </a:r>
            <a:r>
              <a:rPr lang="it-IT" sz="2100" dirty="0"/>
              <a:t> </a:t>
            </a:r>
            <a:r>
              <a:rPr lang="it-IT" sz="2100" dirty="0" err="1"/>
              <a:t>efficient</a:t>
            </a:r>
            <a:r>
              <a:rPr lang="it-IT" sz="2100" dirty="0"/>
              <a:t> </a:t>
            </a:r>
            <a:r>
              <a:rPr lang="it-IT" sz="2100" dirty="0" err="1"/>
              <a:t>realization</a:t>
            </a:r>
            <a:r>
              <a:rPr lang="it-IT" sz="2100" dirty="0"/>
              <a:t> of </a:t>
            </a:r>
            <a:r>
              <a:rPr lang="it-IT" sz="2100" b="1" dirty="0"/>
              <a:t>social </a:t>
            </a:r>
            <a:r>
              <a:rPr lang="it-IT" sz="2100" b="1" dirty="0" err="1"/>
              <a:t>expenditure</a:t>
            </a:r>
            <a:r>
              <a:rPr lang="it-IT" sz="2100" b="1" dirty="0"/>
              <a:t> strategies</a:t>
            </a:r>
            <a:r>
              <a:rPr lang="it-IT" sz="2100" dirty="0"/>
              <a:t> in </a:t>
            </a:r>
            <a:r>
              <a:rPr lang="it-IT" sz="2100" dirty="0" err="1"/>
              <a:t>combating</a:t>
            </a:r>
            <a:r>
              <a:rPr lang="it-IT" sz="2100" dirty="0"/>
              <a:t> </a:t>
            </a:r>
            <a:r>
              <a:rPr lang="it-IT" sz="2100" dirty="0" err="1"/>
              <a:t>poverty</a:t>
            </a:r>
            <a:r>
              <a:rPr lang="it-IT" sz="2100" dirty="0"/>
              <a:t>, and second, to highlight </a:t>
            </a:r>
            <a:r>
              <a:rPr lang="it-IT" sz="2100" b="1" dirty="0" err="1"/>
              <a:t>specific</a:t>
            </a:r>
            <a:r>
              <a:rPr lang="it-IT" sz="2100" b="1" dirty="0"/>
              <a:t> </a:t>
            </a:r>
            <a:r>
              <a:rPr lang="it-IT" sz="2100" b="1" dirty="0" err="1"/>
              <a:t>timeframes</a:t>
            </a:r>
            <a:r>
              <a:rPr lang="it-IT" sz="2100" b="1" dirty="0"/>
              <a:t> </a:t>
            </a:r>
            <a:r>
              <a:rPr lang="it-IT" sz="2100" dirty="0" err="1"/>
              <a:t>where</a:t>
            </a:r>
            <a:r>
              <a:rPr lang="it-IT" sz="2100" dirty="0"/>
              <a:t> </a:t>
            </a:r>
            <a:r>
              <a:rPr lang="it-IT" sz="2100" dirty="0" err="1"/>
              <a:t>certain</a:t>
            </a:r>
            <a:r>
              <a:rPr lang="it-IT" sz="2100" dirty="0"/>
              <a:t> </a:t>
            </a:r>
            <a:r>
              <a:rPr lang="it-IT" sz="2100" dirty="0" err="1"/>
              <a:t>nations</a:t>
            </a:r>
            <a:r>
              <a:rPr lang="it-IT" sz="2100" dirty="0"/>
              <a:t>' policies </a:t>
            </a:r>
            <a:r>
              <a:rPr lang="it-IT" sz="2100" dirty="0" err="1"/>
              <a:t>proved</a:t>
            </a:r>
            <a:r>
              <a:rPr lang="it-IT" sz="2100" dirty="0"/>
              <a:t> </a:t>
            </a:r>
            <a:r>
              <a:rPr lang="it-IT" sz="2100" dirty="0" err="1"/>
              <a:t>particularly</a:t>
            </a:r>
            <a:r>
              <a:rPr lang="it-IT" sz="2100" dirty="0"/>
              <a:t> </a:t>
            </a:r>
            <a:r>
              <a:rPr lang="it-IT" sz="2100" dirty="0" err="1"/>
              <a:t>impactful</a:t>
            </a:r>
            <a:r>
              <a:rPr lang="it-IT" sz="2100" dirty="0"/>
              <a:t> or </a:t>
            </a:r>
            <a:r>
              <a:rPr lang="it-IT" sz="2100" dirty="0" err="1"/>
              <a:t>successful</a:t>
            </a:r>
            <a:r>
              <a:rPr lang="it-IT" sz="2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8113120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09AA7C-F3F1-7153-CE11-E285331FEC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B68D08-B0D4-A42B-14A7-31697A0DDF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623060"/>
            <a:ext cx="10691265" cy="433882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100" dirty="0" err="1"/>
              <a:t>This</a:t>
            </a:r>
            <a:r>
              <a:rPr lang="it-IT" sz="2100" dirty="0"/>
              <a:t> </a:t>
            </a:r>
            <a:r>
              <a:rPr lang="it-IT" sz="2100" dirty="0" err="1"/>
              <a:t>analysis</a:t>
            </a:r>
            <a:r>
              <a:rPr lang="it-IT" sz="2100" dirty="0"/>
              <a:t> </a:t>
            </a:r>
            <a:r>
              <a:rPr lang="it-IT" sz="2100" dirty="0" err="1"/>
              <a:t>aims</a:t>
            </a:r>
            <a:r>
              <a:rPr lang="it-IT" sz="2100" dirty="0"/>
              <a:t> to investigate the </a:t>
            </a:r>
            <a:r>
              <a:rPr lang="it-IT" sz="2100" b="1" dirty="0" err="1"/>
              <a:t>effectiveness</a:t>
            </a:r>
            <a:r>
              <a:rPr lang="it-IT" sz="2100" dirty="0"/>
              <a:t> of </a:t>
            </a:r>
            <a:r>
              <a:rPr lang="it-IT" sz="2100" dirty="0" err="1"/>
              <a:t>different</a:t>
            </a:r>
            <a:r>
              <a:rPr lang="it-IT" sz="2100" dirty="0"/>
              <a:t> national social spending </a:t>
            </a:r>
            <a:r>
              <a:rPr lang="it-IT" sz="2100" b="1" dirty="0"/>
              <a:t>strategies</a:t>
            </a:r>
            <a:r>
              <a:rPr lang="it-IT" sz="2100" dirty="0"/>
              <a:t> by </a:t>
            </a:r>
            <a:r>
              <a:rPr lang="it-IT" sz="2100" dirty="0" err="1"/>
              <a:t>examining</a:t>
            </a:r>
            <a:r>
              <a:rPr lang="it-IT" sz="2100" dirty="0"/>
              <a:t> </a:t>
            </a:r>
            <a:r>
              <a:rPr lang="it-IT" sz="2100" dirty="0" err="1"/>
              <a:t>their</a:t>
            </a:r>
            <a:r>
              <a:rPr lang="it-IT" sz="2100" dirty="0"/>
              <a:t> </a:t>
            </a:r>
            <a:r>
              <a:rPr lang="it-IT" sz="2100" dirty="0" err="1"/>
              <a:t>relationship</a:t>
            </a:r>
            <a:r>
              <a:rPr lang="it-IT" sz="2100" dirty="0"/>
              <a:t> with </a:t>
            </a:r>
            <a:r>
              <a:rPr lang="it-IT" sz="2100" dirty="0" err="1"/>
              <a:t>at</a:t>
            </a:r>
            <a:r>
              <a:rPr lang="it-IT" sz="2100" dirty="0"/>
              <a:t>-risk-of-</a:t>
            </a:r>
            <a:r>
              <a:rPr lang="it-IT" sz="2100" dirty="0" err="1"/>
              <a:t>poverty</a:t>
            </a:r>
            <a:r>
              <a:rPr lang="it-IT" sz="2100" dirty="0"/>
              <a:t> rates.</a:t>
            </a:r>
          </a:p>
          <a:p>
            <a:pPr marL="0" indent="0">
              <a:buNone/>
            </a:pPr>
            <a:r>
              <a:rPr lang="it-IT" sz="2100" dirty="0"/>
              <a:t>The core </a:t>
            </a:r>
            <a:r>
              <a:rPr lang="it-IT" sz="2100" dirty="0" err="1"/>
              <a:t>objectives</a:t>
            </a:r>
            <a:r>
              <a:rPr lang="it-IT" sz="2100" dirty="0"/>
              <a:t> are </a:t>
            </a:r>
            <a:r>
              <a:rPr lang="it-IT" sz="2100" dirty="0" err="1"/>
              <a:t>twofold</a:t>
            </a:r>
            <a:r>
              <a:rPr lang="it-IT" sz="2100" dirty="0"/>
              <a:t>:</a:t>
            </a:r>
          </a:p>
          <a:p>
            <a:pPr>
              <a:buFontTx/>
              <a:buChar char="-"/>
            </a:pPr>
            <a:r>
              <a:rPr lang="it-IT" sz="2100" dirty="0"/>
              <a:t>first, to </a:t>
            </a:r>
            <a:r>
              <a:rPr lang="it-IT" sz="2100" dirty="0" err="1"/>
              <a:t>identify</a:t>
            </a:r>
            <a:r>
              <a:rPr lang="it-IT" sz="2100" dirty="0"/>
              <a:t> </a:t>
            </a:r>
            <a:r>
              <a:rPr lang="it-IT" sz="2100" dirty="0" err="1"/>
              <a:t>which</a:t>
            </a:r>
            <a:r>
              <a:rPr lang="it-IT" sz="2100" dirty="0"/>
              <a:t> countries </a:t>
            </a:r>
            <a:r>
              <a:rPr lang="it-IT" sz="2100" dirty="0" err="1"/>
              <a:t>demonstrate</a:t>
            </a:r>
            <a:r>
              <a:rPr lang="it-IT" sz="2100" dirty="0"/>
              <a:t> the </a:t>
            </a:r>
            <a:r>
              <a:rPr lang="it-IT" sz="2100" dirty="0" err="1"/>
              <a:t>most</a:t>
            </a:r>
            <a:r>
              <a:rPr lang="it-IT" sz="2100" dirty="0"/>
              <a:t> </a:t>
            </a:r>
            <a:r>
              <a:rPr lang="it-IT" sz="2100" dirty="0" err="1"/>
              <a:t>efficient</a:t>
            </a:r>
            <a:r>
              <a:rPr lang="it-IT" sz="2100" dirty="0"/>
              <a:t> </a:t>
            </a:r>
            <a:r>
              <a:rPr lang="it-IT" sz="2100" dirty="0" err="1"/>
              <a:t>realization</a:t>
            </a:r>
            <a:r>
              <a:rPr lang="it-IT" sz="2100" dirty="0"/>
              <a:t> of </a:t>
            </a:r>
            <a:r>
              <a:rPr lang="it-IT" sz="2100" b="1" dirty="0"/>
              <a:t>social </a:t>
            </a:r>
            <a:r>
              <a:rPr lang="it-IT" sz="2100" b="1" dirty="0" err="1"/>
              <a:t>expenditure</a:t>
            </a:r>
            <a:r>
              <a:rPr lang="it-IT" sz="2100" b="1" dirty="0"/>
              <a:t> strategies</a:t>
            </a:r>
            <a:r>
              <a:rPr lang="it-IT" sz="2100" dirty="0"/>
              <a:t> in </a:t>
            </a:r>
            <a:r>
              <a:rPr lang="it-IT" sz="2100" dirty="0" err="1"/>
              <a:t>combating</a:t>
            </a:r>
            <a:r>
              <a:rPr lang="it-IT" sz="2100" dirty="0"/>
              <a:t> </a:t>
            </a:r>
            <a:r>
              <a:rPr lang="it-IT" sz="2100" dirty="0" err="1"/>
              <a:t>poverty</a:t>
            </a:r>
            <a:r>
              <a:rPr lang="it-IT" sz="2100" dirty="0"/>
              <a:t>;</a:t>
            </a:r>
          </a:p>
          <a:p>
            <a:pPr>
              <a:buFontTx/>
              <a:buChar char="-"/>
            </a:pPr>
            <a:r>
              <a:rPr lang="it-IT" sz="2100" dirty="0"/>
              <a:t>second, to highlight </a:t>
            </a:r>
            <a:r>
              <a:rPr lang="it-IT" sz="2100" b="1" dirty="0" err="1"/>
              <a:t>specific</a:t>
            </a:r>
            <a:r>
              <a:rPr lang="it-IT" sz="2100" b="1" dirty="0"/>
              <a:t> </a:t>
            </a:r>
            <a:r>
              <a:rPr lang="it-IT" sz="2100" b="1" dirty="0" err="1"/>
              <a:t>timeframes</a:t>
            </a:r>
            <a:r>
              <a:rPr lang="it-IT" sz="2100" b="1" dirty="0"/>
              <a:t> </a:t>
            </a:r>
            <a:r>
              <a:rPr lang="it-IT" sz="2100" dirty="0" err="1"/>
              <a:t>where</a:t>
            </a:r>
            <a:r>
              <a:rPr lang="it-IT" sz="2100" dirty="0"/>
              <a:t> </a:t>
            </a:r>
            <a:r>
              <a:rPr lang="it-IT" sz="2100" dirty="0" err="1"/>
              <a:t>certain</a:t>
            </a:r>
            <a:r>
              <a:rPr lang="it-IT" sz="2100" dirty="0"/>
              <a:t> </a:t>
            </a:r>
            <a:r>
              <a:rPr lang="it-IT" sz="2100" dirty="0" err="1"/>
              <a:t>nations</a:t>
            </a:r>
            <a:r>
              <a:rPr lang="it-IT" sz="2100" dirty="0"/>
              <a:t>' policies </a:t>
            </a:r>
            <a:r>
              <a:rPr lang="it-IT" sz="2100" dirty="0" err="1"/>
              <a:t>proved</a:t>
            </a:r>
            <a:r>
              <a:rPr lang="it-IT" sz="2100" dirty="0"/>
              <a:t> </a:t>
            </a:r>
            <a:r>
              <a:rPr lang="it-IT" sz="2100" dirty="0" err="1"/>
              <a:t>particularly</a:t>
            </a:r>
            <a:r>
              <a:rPr lang="it-IT" sz="2100" dirty="0"/>
              <a:t> </a:t>
            </a:r>
            <a:r>
              <a:rPr lang="it-IT" sz="2100" dirty="0" err="1"/>
              <a:t>impactful</a:t>
            </a:r>
            <a:r>
              <a:rPr lang="it-IT" sz="2100" dirty="0"/>
              <a:t> or </a:t>
            </a:r>
            <a:r>
              <a:rPr lang="it-IT" sz="2100" dirty="0" err="1"/>
              <a:t>successful</a:t>
            </a:r>
            <a:r>
              <a:rPr lang="it-IT" sz="21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84501880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085B9A1-43C8-66DE-F676-DFB9E4C271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22A6A7F-BB88-210A-8C7F-250C4EC1D8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013284545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D0417D-E8E7-150F-4A17-4180B082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0C474CE-15AE-C9E6-9AAC-F09908C51B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049020"/>
            <a:ext cx="10691265" cy="434594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it-IT" err="1"/>
              <a:t>Curves</a:t>
            </a:r>
            <a:r>
              <a:rPr lang="it-IT"/>
              <a:t> of At-risk-of-</a:t>
            </a:r>
            <a:r>
              <a:rPr lang="it-IT" err="1"/>
              <a:t>poverty</a:t>
            </a:r>
            <a:r>
              <a:rPr lang="it-IT"/>
              <a:t> rate from 2015 to 2024 of a </a:t>
            </a:r>
            <a:r>
              <a:rPr lang="it-IT" err="1"/>
              <a:t>selection</a:t>
            </a:r>
            <a:r>
              <a:rPr lang="it-IT"/>
              <a:t> of Countries</a:t>
            </a:r>
          </a:p>
        </p:txBody>
      </p:sp>
      <p:pic>
        <p:nvPicPr>
          <p:cNvPr id="4" name="Immagine 3" descr="Immagine che contiene testo, diagramma, linea, Diagramma&#10;&#10;Il contenuto generato dall&amp;#39;IA potrebbe non essere corretto.">
            <a:extLst>
              <a:ext uri="{FF2B5EF4-FFF2-40B4-BE49-F238E27FC236}">
                <a16:creationId xmlns:a16="http://schemas.microsoft.com/office/drawing/2014/main" id="{FBA3AB66-DEDD-E814-52FE-8861A7A772E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77"/>
          <a:stretch>
            <a:fillRect/>
          </a:stretch>
        </p:blipFill>
        <p:spPr>
          <a:xfrm>
            <a:off x="2047195" y="1714499"/>
            <a:ext cx="7999582" cy="4376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161561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BA6334-B48D-0BE8-33D7-4F901C25C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9C7FD3E-9016-00C0-6F6D-3FC5A04950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5" y="1049020"/>
            <a:ext cx="10691265" cy="4345940"/>
          </a:xfrm>
        </p:spPr>
        <p:txBody>
          <a:bodyPr/>
          <a:lstStyle/>
          <a:p>
            <a:pPr marL="0" indent="0">
              <a:buNone/>
            </a:pPr>
            <a:r>
              <a:rPr lang="it-IT" dirty="0"/>
              <a:t>The dataset </a:t>
            </a:r>
            <a:r>
              <a:rPr lang="it-IT" dirty="0" err="1"/>
              <a:t>at</a:t>
            </a:r>
            <a:r>
              <a:rPr lang="it-IT" dirty="0"/>
              <a:t> the center of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analysis</a:t>
            </a:r>
            <a:r>
              <a:rPr lang="it-IT" dirty="0"/>
              <a:t>, </a:t>
            </a:r>
            <a:r>
              <a:rPr lang="it-IT" dirty="0" err="1"/>
              <a:t>sourced</a:t>
            </a:r>
            <a:r>
              <a:rPr lang="it-IT" dirty="0"/>
              <a:t> from </a:t>
            </a:r>
            <a:r>
              <a:rPr lang="it-IT" b="1" dirty="0"/>
              <a:t>Eurostat</a:t>
            </a:r>
            <a:r>
              <a:rPr lang="it-IT" dirty="0"/>
              <a:t>, combines </a:t>
            </a:r>
            <a:r>
              <a:rPr lang="it-IT" dirty="0" err="1"/>
              <a:t>two</a:t>
            </a:r>
            <a:r>
              <a:rPr lang="it-IT" dirty="0"/>
              <a:t> key </a:t>
            </a:r>
            <a:r>
              <a:rPr lang="it-IT" dirty="0" err="1"/>
              <a:t>indicators</a:t>
            </a:r>
            <a:r>
              <a:rPr lang="it-IT" dirty="0"/>
              <a:t>: the </a:t>
            </a:r>
            <a:r>
              <a:rPr lang="it-IT" b="1" dirty="0"/>
              <a:t>At-risk-of-</a:t>
            </a:r>
            <a:r>
              <a:rPr lang="it-IT" b="1" dirty="0" err="1"/>
              <a:t>poverty</a:t>
            </a:r>
            <a:r>
              <a:rPr lang="it-IT" b="1" dirty="0"/>
              <a:t> rate</a:t>
            </a:r>
            <a:r>
              <a:rPr lang="it-IT" dirty="0"/>
              <a:t> and </a:t>
            </a:r>
            <a:r>
              <a:rPr lang="it-IT" dirty="0" err="1"/>
              <a:t>detailed</a:t>
            </a:r>
            <a:r>
              <a:rPr lang="it-IT" dirty="0"/>
              <a:t> data on </a:t>
            </a:r>
            <a:r>
              <a:rPr lang="it-IT" b="1" dirty="0"/>
              <a:t>Social </a:t>
            </a:r>
            <a:r>
              <a:rPr lang="it-IT" b="1" dirty="0" err="1"/>
              <a:t>Protection</a:t>
            </a:r>
            <a:r>
              <a:rPr lang="it-IT" b="1" dirty="0"/>
              <a:t> </a:t>
            </a:r>
            <a:r>
              <a:rPr lang="it-IT" b="1" dirty="0" err="1"/>
              <a:t>Expenditure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The </a:t>
            </a:r>
            <a:r>
              <a:rPr lang="it-IT" dirty="0" err="1"/>
              <a:t>origin</a:t>
            </a:r>
            <a:r>
              <a:rPr lang="it-IT" dirty="0"/>
              <a:t> of </a:t>
            </a:r>
            <a:r>
              <a:rPr lang="it-IT" dirty="0" err="1"/>
              <a:t>this</a:t>
            </a:r>
            <a:r>
              <a:rPr lang="it-IT" dirty="0"/>
              <a:t> data </a:t>
            </a:r>
            <a:r>
              <a:rPr lang="it-IT" dirty="0" err="1"/>
              <a:t>is</a:t>
            </a:r>
            <a:r>
              <a:rPr lang="it-IT" dirty="0"/>
              <a:t> the EU-SILC (</a:t>
            </a:r>
            <a:r>
              <a:rPr lang="it-IT" dirty="0" err="1"/>
              <a:t>Statistics</a:t>
            </a:r>
            <a:r>
              <a:rPr lang="it-IT" dirty="0"/>
              <a:t> on </a:t>
            </a:r>
            <a:r>
              <a:rPr lang="it-IT" dirty="0" err="1"/>
              <a:t>Income</a:t>
            </a:r>
            <a:r>
              <a:rPr lang="it-IT" dirty="0"/>
              <a:t> and Living </a:t>
            </a:r>
            <a:r>
              <a:rPr lang="it-IT" dirty="0" err="1"/>
              <a:t>Conditions</a:t>
            </a:r>
            <a:r>
              <a:rPr lang="it-IT" dirty="0"/>
              <a:t>) survey,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collects</a:t>
            </a:r>
            <a:r>
              <a:rPr lang="it-IT" dirty="0"/>
              <a:t> </a:t>
            </a:r>
            <a:r>
              <a:rPr lang="it-IT" dirty="0" err="1"/>
              <a:t>multidimensional</a:t>
            </a:r>
            <a:r>
              <a:rPr lang="it-IT" dirty="0"/>
              <a:t> </a:t>
            </a:r>
            <a:r>
              <a:rPr lang="it-IT" dirty="0" err="1"/>
              <a:t>microdata</a:t>
            </a:r>
            <a:r>
              <a:rPr lang="it-IT" dirty="0"/>
              <a:t> on </a:t>
            </a:r>
            <a:r>
              <a:rPr lang="it-IT" dirty="0" err="1"/>
              <a:t>income</a:t>
            </a:r>
            <a:r>
              <a:rPr lang="it-IT" dirty="0"/>
              <a:t>, </a:t>
            </a:r>
            <a:r>
              <a:rPr lang="it-IT" dirty="0" err="1"/>
              <a:t>poverty</a:t>
            </a:r>
            <a:r>
              <a:rPr lang="it-IT" dirty="0"/>
              <a:t>, and social </a:t>
            </a:r>
            <a:r>
              <a:rPr lang="it-IT" dirty="0" err="1"/>
              <a:t>exclusion</a:t>
            </a:r>
            <a:r>
              <a:rPr lang="it-IT" dirty="0"/>
              <a:t>. EU-SILC </a:t>
            </a:r>
            <a:r>
              <a:rPr lang="it-IT" dirty="0" err="1"/>
              <a:t>uses</a:t>
            </a:r>
            <a:r>
              <a:rPr lang="it-IT" dirty="0"/>
              <a:t> a </a:t>
            </a:r>
            <a:r>
              <a:rPr lang="it-IT" dirty="0" err="1"/>
              <a:t>nationally</a:t>
            </a:r>
            <a:r>
              <a:rPr lang="it-IT" dirty="0"/>
              <a:t> </a:t>
            </a:r>
            <a:r>
              <a:rPr lang="it-IT" dirty="0" err="1"/>
              <a:t>representative</a:t>
            </a:r>
            <a:r>
              <a:rPr lang="it-IT" dirty="0"/>
              <a:t> sample of private </a:t>
            </a:r>
            <a:r>
              <a:rPr lang="it-IT" dirty="0" err="1"/>
              <a:t>households</a:t>
            </a:r>
            <a:r>
              <a:rPr lang="it-IT" dirty="0"/>
              <a:t>, </a:t>
            </a:r>
            <a:r>
              <a:rPr lang="it-IT" dirty="0" err="1"/>
              <a:t>combining</a:t>
            </a:r>
            <a:r>
              <a:rPr lang="it-IT" dirty="0"/>
              <a:t> survey and </a:t>
            </a:r>
            <a:r>
              <a:rPr lang="it-IT" dirty="0" err="1"/>
              <a:t>administrative</a:t>
            </a:r>
            <a:r>
              <a:rPr lang="it-IT" dirty="0"/>
              <a:t> data to </a:t>
            </a:r>
            <a:r>
              <a:rPr lang="it-IT" dirty="0" err="1"/>
              <a:t>ensure</a:t>
            </a:r>
            <a:r>
              <a:rPr lang="it-IT" dirty="0"/>
              <a:t> </a:t>
            </a:r>
            <a:r>
              <a:rPr lang="it-IT" dirty="0" err="1"/>
              <a:t>comparability</a:t>
            </a:r>
            <a:r>
              <a:rPr lang="it-IT" dirty="0"/>
              <a:t>.</a:t>
            </a:r>
          </a:p>
          <a:p>
            <a:pPr marL="0" indent="0">
              <a:buNone/>
            </a:pPr>
            <a:endParaRPr lang="it-IT" dirty="0"/>
          </a:p>
          <a:p>
            <a:pPr marL="0" indent="0">
              <a:buNone/>
            </a:pPr>
            <a:r>
              <a:rPr lang="it-IT" dirty="0"/>
              <a:t>The </a:t>
            </a:r>
            <a:r>
              <a:rPr lang="it-IT" b="1" dirty="0" err="1"/>
              <a:t>objective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to </a:t>
            </a:r>
            <a:r>
              <a:rPr lang="it-IT" dirty="0" err="1"/>
              <a:t>analyze</a:t>
            </a:r>
            <a:r>
              <a:rPr lang="it-IT" dirty="0"/>
              <a:t> the </a:t>
            </a:r>
            <a:r>
              <a:rPr lang="it-IT" dirty="0" err="1"/>
              <a:t>relationship</a:t>
            </a:r>
            <a:r>
              <a:rPr lang="it-IT" dirty="0"/>
              <a:t> </a:t>
            </a:r>
            <a:r>
              <a:rPr lang="it-IT" dirty="0" err="1"/>
              <a:t>between</a:t>
            </a:r>
            <a:r>
              <a:rPr lang="it-IT" dirty="0"/>
              <a:t> </a:t>
            </a:r>
            <a:r>
              <a:rPr lang="it-IT" b="1" dirty="0"/>
              <a:t>national social spending strategies</a:t>
            </a:r>
            <a:r>
              <a:rPr lang="it-IT" dirty="0"/>
              <a:t> and key </a:t>
            </a:r>
            <a:r>
              <a:rPr lang="it-IT" dirty="0" err="1"/>
              <a:t>socio-economic</a:t>
            </a:r>
            <a:r>
              <a:rPr lang="it-IT" dirty="0"/>
              <a:t> </a:t>
            </a:r>
            <a:r>
              <a:rPr lang="it-IT" dirty="0" err="1"/>
              <a:t>outcomes</a:t>
            </a:r>
            <a:r>
              <a:rPr lang="it-IT" dirty="0"/>
              <a:t> </a:t>
            </a:r>
            <a:r>
              <a:rPr lang="it-IT" dirty="0" err="1"/>
              <a:t>related</a:t>
            </a:r>
            <a:r>
              <a:rPr lang="it-IT" dirty="0"/>
              <a:t> to </a:t>
            </a:r>
            <a:r>
              <a:rPr lang="it-IT" b="1" dirty="0" err="1"/>
              <a:t>poverty</a:t>
            </a:r>
            <a:r>
              <a:rPr lang="it-IT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09022007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Chronicle">
      <a:dk1>
        <a:srgbClr val="000000"/>
      </a:dk1>
      <a:lt1>
        <a:srgbClr val="FFFFFF"/>
      </a:lt1>
      <a:dk2>
        <a:srgbClr val="1C1C32"/>
      </a:dk2>
      <a:lt2>
        <a:srgbClr val="F8F4F1"/>
      </a:lt2>
      <a:accent1>
        <a:srgbClr val="734B67"/>
      </a:accent1>
      <a:accent2>
        <a:srgbClr val="959EBB"/>
      </a:accent2>
      <a:accent3>
        <a:srgbClr val="596781"/>
      </a:accent3>
      <a:accent4>
        <a:srgbClr val="7F6E8C"/>
      </a:accent4>
      <a:accent5>
        <a:srgbClr val="DB9A8F"/>
      </a:accent5>
      <a:accent6>
        <a:srgbClr val="C29AB1"/>
      </a:accent6>
      <a:hlink>
        <a:srgbClr val="778BA2"/>
      </a:hlink>
      <a:folHlink>
        <a:srgbClr val="A27C99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 w="12700" cap="flat" cmpd="sng" algn="ctr">
          <a:noFill/>
          <a:prstDash val="solid"/>
          <a:miter lim="800000"/>
        </a:ln>
        <a:effectLst/>
        <a:extLst>
          <a:ext uri="{91240B29-F687-4F45-9708-019B960494DF}">
            <a14:hiddenLine xmlns:a14="http://schemas.microsoft.com/office/drawing/2010/main" w="12700" cap="flat" cmpd="sng" algn="ctr">
              <a:solidFill>
                <a:schemeClr val="accent1">
                  <a:shade val="50000"/>
                </a:schemeClr>
              </a:solidFill>
              <a:prstDash val="solid"/>
              <a:miter lim="800000"/>
            </a14:hiddenLine>
          </a:ext>
        </a:extLst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367</Words>
  <Application>Microsoft Macintosh PowerPoint</Application>
  <PresentationFormat>Widescreen</PresentationFormat>
  <Paragraphs>23</Paragraphs>
  <Slides>7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7</vt:i4>
      </vt:variant>
    </vt:vector>
  </HeadingPairs>
  <TitlesOfParts>
    <vt:vector size="12" baseType="lpstr">
      <vt:lpstr>Aptos</vt:lpstr>
      <vt:lpstr>Arial</vt:lpstr>
      <vt:lpstr>Calisto MT</vt:lpstr>
      <vt:lpstr>Univers Condensed</vt:lpstr>
      <vt:lpstr>ChronicleVTI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Leo Marcello Poli</dc:creator>
  <cp:lastModifiedBy>Leo Marcello Poli</cp:lastModifiedBy>
  <cp:revision>3</cp:revision>
  <dcterms:created xsi:type="dcterms:W3CDTF">2025-11-11T11:14:47Z</dcterms:created>
  <dcterms:modified xsi:type="dcterms:W3CDTF">2025-11-11T14:53:43Z</dcterms:modified>
</cp:coreProperties>
</file>