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6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F983D-2989-9381-B953-17771403286B}" v="42" dt="2025-11-11T12:48:12.647"/>
    <p1510:client id="{F9AE3F72-ADA4-B04E-90D1-3158E09760E9}" v="190" dt="2025-11-11T12:22:32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Marcello Poli" userId="5fb95274-5e77-4ff0-998d-ba6cd261dd6d" providerId="ADAL" clId="{FCCFB3CF-2DE2-5234-950E-6C59C634429D}"/>
    <pc:docChg chg="undo redo custSel addSld modSld sldOrd">
      <pc:chgData name="Leo Marcello Poli" userId="5fb95274-5e77-4ff0-998d-ba6cd261dd6d" providerId="ADAL" clId="{FCCFB3CF-2DE2-5234-950E-6C59C634429D}" dt="2025-11-11T12:22:43.428" v="546" actId="680"/>
      <pc:docMkLst>
        <pc:docMk/>
      </pc:docMkLst>
      <pc:sldChg chg="addSp delSp modSp mod">
        <pc:chgData name="Leo Marcello Poli" userId="5fb95274-5e77-4ff0-998d-ba6cd261dd6d" providerId="ADAL" clId="{FCCFB3CF-2DE2-5234-950E-6C59C634429D}" dt="2025-11-11T12:20:19.484" v="443" actId="931"/>
        <pc:sldMkLst>
          <pc:docMk/>
          <pc:sldMk cId="3621039622" sldId="256"/>
        </pc:sldMkLst>
        <pc:picChg chg="del mod">
          <ac:chgData name="Leo Marcello Poli" userId="5fb95274-5e77-4ff0-998d-ba6cd261dd6d" providerId="ADAL" clId="{FCCFB3CF-2DE2-5234-950E-6C59C634429D}" dt="2025-11-11T12:15:59.081" v="414" actId="478"/>
          <ac:picMkLst>
            <pc:docMk/>
            <pc:sldMk cId="3621039622" sldId="256"/>
            <ac:picMk id="4" creationId="{591DCBD6-9230-CE23-CA59-AB605705FD32}"/>
          </ac:picMkLst>
        </pc:picChg>
        <pc:picChg chg="add mod">
          <ac:chgData name="Leo Marcello Poli" userId="5fb95274-5e77-4ff0-998d-ba6cd261dd6d" providerId="ADAL" clId="{FCCFB3CF-2DE2-5234-950E-6C59C634429D}" dt="2025-11-11T12:20:19.484" v="443" actId="931"/>
          <ac:picMkLst>
            <pc:docMk/>
            <pc:sldMk cId="3621039622" sldId="256"/>
            <ac:picMk id="15" creationId="{159F21D8-C74B-8A44-42D9-5036F6419167}"/>
          </ac:picMkLst>
        </pc:picChg>
      </pc:sldChg>
      <pc:sldChg chg="delSp modSp mod">
        <pc:chgData name="Leo Marcello Poli" userId="5fb95274-5e77-4ff0-998d-ba6cd261dd6d" providerId="ADAL" clId="{FCCFB3CF-2DE2-5234-950E-6C59C634429D}" dt="2025-11-11T12:21:24.814" v="452" actId="1036"/>
        <pc:sldMkLst>
          <pc:docMk/>
          <pc:sldMk cId="429684847" sldId="257"/>
        </pc:sldMkLst>
        <pc:spChg chg="del mod">
          <ac:chgData name="Leo Marcello Poli" userId="5fb95274-5e77-4ff0-998d-ba6cd261dd6d" providerId="ADAL" clId="{FCCFB3CF-2DE2-5234-950E-6C59C634429D}" dt="2025-11-11T11:54:53.723" v="13" actId="478"/>
          <ac:spMkLst>
            <pc:docMk/>
            <pc:sldMk cId="429684847" sldId="257"/>
            <ac:spMk id="2" creationId="{4D400B7A-8BAC-4065-0E25-8A26B329F682}"/>
          </ac:spMkLst>
        </pc:spChg>
        <pc:spChg chg="mod">
          <ac:chgData name="Leo Marcello Poli" userId="5fb95274-5e77-4ff0-998d-ba6cd261dd6d" providerId="ADAL" clId="{FCCFB3CF-2DE2-5234-950E-6C59C634429D}" dt="2025-11-11T12:21:24.814" v="452" actId="1036"/>
          <ac:spMkLst>
            <pc:docMk/>
            <pc:sldMk cId="429684847" sldId="257"/>
            <ac:spMk id="3" creationId="{07756542-B89E-A953-D711-75130667CC78}"/>
          </ac:spMkLst>
        </pc:spChg>
      </pc:sldChg>
      <pc:sldChg chg="addSp delSp modSp add mod ord">
        <pc:chgData name="Leo Marcello Poli" userId="5fb95274-5e77-4ff0-998d-ba6cd261dd6d" providerId="ADAL" clId="{FCCFB3CF-2DE2-5234-950E-6C59C634429D}" dt="2025-11-11T12:19:11.408" v="442" actId="1035"/>
        <pc:sldMkLst>
          <pc:docMk/>
          <pc:sldMk cId="625916660" sldId="258"/>
        </pc:sldMkLst>
        <pc:spChg chg="del">
          <ac:chgData name="Leo Marcello Poli" userId="5fb95274-5e77-4ff0-998d-ba6cd261dd6d" providerId="ADAL" clId="{FCCFB3CF-2DE2-5234-950E-6C59C634429D}" dt="2025-11-11T12:16:24.200" v="417" actId="478"/>
          <ac:spMkLst>
            <pc:docMk/>
            <pc:sldMk cId="625916660" sldId="258"/>
            <ac:spMk id="3" creationId="{B5CA767D-EB89-3613-C214-F451C3F402D5}"/>
          </ac:spMkLst>
        </pc:spChg>
        <pc:spChg chg="add del mod">
          <ac:chgData name="Leo Marcello Poli" userId="5fb95274-5e77-4ff0-998d-ba6cd261dd6d" providerId="ADAL" clId="{FCCFB3CF-2DE2-5234-950E-6C59C634429D}" dt="2025-11-11T12:16:25.902" v="418" actId="478"/>
          <ac:spMkLst>
            <pc:docMk/>
            <pc:sldMk cId="625916660" sldId="258"/>
            <ac:spMk id="4" creationId="{B5386EEB-31B9-3CBC-8B70-6057F6B90DF9}"/>
          </ac:spMkLst>
        </pc:spChg>
        <pc:spChg chg="add mod">
          <ac:chgData name="Leo Marcello Poli" userId="5fb95274-5e77-4ff0-998d-ba6cd261dd6d" providerId="ADAL" clId="{FCCFB3CF-2DE2-5234-950E-6C59C634429D}" dt="2025-11-11T12:16:49.718" v="421" actId="255"/>
          <ac:spMkLst>
            <pc:docMk/>
            <pc:sldMk cId="625916660" sldId="258"/>
            <ac:spMk id="5" creationId="{253B4AD4-790E-ED64-E2DF-A99180959192}"/>
          </ac:spMkLst>
        </pc:spChg>
        <pc:spChg chg="add mod">
          <ac:chgData name="Leo Marcello Poli" userId="5fb95274-5e77-4ff0-998d-ba6cd261dd6d" providerId="ADAL" clId="{FCCFB3CF-2DE2-5234-950E-6C59C634429D}" dt="2025-11-11T12:18:26.802" v="436" actId="1076"/>
          <ac:spMkLst>
            <pc:docMk/>
            <pc:sldMk cId="625916660" sldId="258"/>
            <ac:spMk id="6" creationId="{4A5EBAC6-20D1-44C8-90F8-62A459C6BEC5}"/>
          </ac:spMkLst>
        </pc:spChg>
        <pc:spChg chg="add mod">
          <ac:chgData name="Leo Marcello Poli" userId="5fb95274-5e77-4ff0-998d-ba6cd261dd6d" providerId="ADAL" clId="{FCCFB3CF-2DE2-5234-950E-6C59C634429D}" dt="2025-11-11T12:18:26.802" v="436" actId="1076"/>
          <ac:spMkLst>
            <pc:docMk/>
            <pc:sldMk cId="625916660" sldId="258"/>
            <ac:spMk id="7" creationId="{F8719734-0815-C0BF-831A-4BC36107569A}"/>
          </ac:spMkLst>
        </pc:spChg>
        <pc:picChg chg="add mod">
          <ac:chgData name="Leo Marcello Poli" userId="5fb95274-5e77-4ff0-998d-ba6cd261dd6d" providerId="ADAL" clId="{FCCFB3CF-2DE2-5234-950E-6C59C634429D}" dt="2025-11-11T12:19:11.408" v="442" actId="1035"/>
          <ac:picMkLst>
            <pc:docMk/>
            <pc:sldMk cId="625916660" sldId="258"/>
            <ac:picMk id="8" creationId="{155101A1-289F-3F4A-530A-44D4AB055564}"/>
          </ac:picMkLst>
        </pc:picChg>
      </pc:sldChg>
      <pc:sldChg chg="modSp add mod">
        <pc:chgData name="Leo Marcello Poli" userId="5fb95274-5e77-4ff0-998d-ba6cd261dd6d" providerId="ADAL" clId="{FCCFB3CF-2DE2-5234-950E-6C59C634429D}" dt="2025-11-11T12:22:32.329" v="545" actId="14100"/>
        <pc:sldMkLst>
          <pc:docMk/>
          <pc:sldMk cId="991615614" sldId="259"/>
        </pc:sldMkLst>
        <pc:spChg chg="mod">
          <ac:chgData name="Leo Marcello Poli" userId="5fb95274-5e77-4ff0-998d-ba6cd261dd6d" providerId="ADAL" clId="{FCCFB3CF-2DE2-5234-950E-6C59C634429D}" dt="2025-11-11T12:22:32.329" v="545" actId="14100"/>
          <ac:spMkLst>
            <pc:docMk/>
            <pc:sldMk cId="991615614" sldId="259"/>
            <ac:spMk id="3" creationId="{D0C474CE-15AE-C9E6-9AAC-F09908C51B95}"/>
          </ac:spMkLst>
        </pc:spChg>
      </pc:sldChg>
      <pc:sldChg chg="new">
        <pc:chgData name="Leo Marcello Poli" userId="5fb95274-5e77-4ff0-998d-ba6cd261dd6d" providerId="ADAL" clId="{FCCFB3CF-2DE2-5234-950E-6C59C634429D}" dt="2025-11-11T12:22:43.428" v="546" actId="680"/>
        <pc:sldMkLst>
          <pc:docMk/>
          <pc:sldMk cId="1531098446" sldId="260"/>
        </pc:sldMkLst>
      </pc:sldChg>
    </pc:docChg>
  </pc:docChgLst>
  <pc:docChgLst>
    <pc:chgData name="Pietro Filippo Schgor" userId="S::10710527@polimi.it::3b79221b-8856-43ef-81ae-db80fff86790" providerId="AD" clId="Web-{ACFF983D-2989-9381-B953-17771403286B}"/>
    <pc:docChg chg="modSld">
      <pc:chgData name="Pietro Filippo Schgor" userId="S::10710527@polimi.it::3b79221b-8856-43ef-81ae-db80fff86790" providerId="AD" clId="Web-{ACFF983D-2989-9381-B953-17771403286B}" dt="2025-11-11T12:48:07.240" v="43" actId="20577"/>
      <pc:docMkLst>
        <pc:docMk/>
      </pc:docMkLst>
      <pc:sldChg chg="addSp delSp modSp mod setBg">
        <pc:chgData name="Pietro Filippo Schgor" userId="S::10710527@polimi.it::3b79221b-8856-43ef-81ae-db80fff86790" providerId="AD" clId="Web-{ACFF983D-2989-9381-B953-17771403286B}" dt="2025-11-11T12:48:07.240" v="43" actId="20577"/>
        <pc:sldMkLst>
          <pc:docMk/>
          <pc:sldMk cId="991615614" sldId="259"/>
        </pc:sldMkLst>
        <pc:spChg chg="mod ord">
          <ac:chgData name="Pietro Filippo Schgor" userId="S::10710527@polimi.it::3b79221b-8856-43ef-81ae-db80fff86790" providerId="AD" clId="Web-{ACFF983D-2989-9381-B953-17771403286B}" dt="2025-11-11T12:48:07.240" v="43" actId="20577"/>
          <ac:spMkLst>
            <pc:docMk/>
            <pc:sldMk cId="991615614" sldId="259"/>
            <ac:spMk id="3" creationId="{D0C474CE-15AE-C9E6-9AAC-F09908C51B95}"/>
          </ac:spMkLst>
        </pc:spChg>
        <pc:spChg chg="add del">
          <ac:chgData name="Pietro Filippo Schgor" userId="S::10710527@polimi.it::3b79221b-8856-43ef-81ae-db80fff86790" providerId="AD" clId="Web-{ACFF983D-2989-9381-B953-17771403286B}" dt="2025-11-11T12:44:49.840" v="2"/>
          <ac:spMkLst>
            <pc:docMk/>
            <pc:sldMk cId="991615614" sldId="259"/>
            <ac:spMk id="8" creationId="{E49D7415-2F11-44C2-B6AA-13A25B6814B9}"/>
          </ac:spMkLst>
        </pc:spChg>
        <pc:spChg chg="add del">
          <ac:chgData name="Pietro Filippo Schgor" userId="S::10710527@polimi.it::3b79221b-8856-43ef-81ae-db80fff86790" providerId="AD" clId="Web-{ACFF983D-2989-9381-B953-17771403286B}" dt="2025-11-11T12:45:41.216" v="20"/>
          <ac:spMkLst>
            <pc:docMk/>
            <pc:sldMk cId="991615614" sldId="259"/>
            <ac:spMk id="14" creationId="{E49D7415-2F11-44C2-B6AA-13A25B6814B9}"/>
          </ac:spMkLst>
        </pc:spChg>
        <pc:picChg chg="add del mod">
          <ac:chgData name="Pietro Filippo Schgor" userId="S::10710527@polimi.it::3b79221b-8856-43ef-81ae-db80fff86790" providerId="AD" clId="Web-{ACFF983D-2989-9381-B953-17771403286B}" dt="2025-11-11T12:45:42.091" v="21"/>
          <ac:picMkLst>
            <pc:docMk/>
            <pc:sldMk cId="991615614" sldId="259"/>
            <ac:picMk id="2" creationId="{C4872D76-C50D-DB0D-6301-2017FAFAA036}"/>
          </ac:picMkLst>
        </pc:picChg>
        <pc:picChg chg="add mod modCrop">
          <ac:chgData name="Pietro Filippo Schgor" userId="S::10710527@polimi.it::3b79221b-8856-43ef-81ae-db80fff86790" providerId="AD" clId="Web-{ACFF983D-2989-9381-B953-17771403286B}" dt="2025-11-11T12:46:32.108" v="27" actId="1076"/>
          <ac:picMkLst>
            <pc:docMk/>
            <pc:sldMk cId="991615614" sldId="259"/>
            <ac:picMk id="4" creationId="{FBA3AB66-DEDD-E814-52FE-8861A7A772E8}"/>
          </ac:picMkLst>
        </pc:picChg>
        <pc:cxnChg chg="add del">
          <ac:chgData name="Pietro Filippo Schgor" userId="S::10710527@polimi.it::3b79221b-8856-43ef-81ae-db80fff86790" providerId="AD" clId="Web-{ACFF983D-2989-9381-B953-17771403286B}" dt="2025-11-11T12:44:49.840" v="2"/>
          <ac:cxnSpMkLst>
            <pc:docMk/>
            <pc:sldMk cId="991615614" sldId="259"/>
            <ac:cxnSpMk id="10" creationId="{D2E57F3D-33BE-4306-87E6-245763719516}"/>
          </ac:cxnSpMkLst>
        </pc:cxnChg>
        <pc:cxnChg chg="add del">
          <ac:chgData name="Pietro Filippo Schgor" userId="S::10710527@polimi.it::3b79221b-8856-43ef-81ae-db80fff86790" providerId="AD" clId="Web-{ACFF983D-2989-9381-B953-17771403286B}" dt="2025-11-11T12:44:49.840" v="2"/>
          <ac:cxnSpMkLst>
            <pc:docMk/>
            <pc:sldMk cId="991615614" sldId="259"/>
            <ac:cxnSpMk id="12" creationId="{8E0104E4-99BC-494F-8342-F250828E574F}"/>
          </ac:cxnSpMkLst>
        </pc:cxnChg>
        <pc:cxnChg chg="add del">
          <ac:chgData name="Pietro Filippo Schgor" userId="S::10710527@polimi.it::3b79221b-8856-43ef-81ae-db80fff86790" providerId="AD" clId="Web-{ACFF983D-2989-9381-B953-17771403286B}" dt="2025-11-11T12:45:41.216" v="20"/>
          <ac:cxnSpMkLst>
            <pc:docMk/>
            <pc:sldMk cId="991615614" sldId="259"/>
            <ac:cxnSpMk id="15" creationId="{A7C10D4C-8DED-200E-3237-3345F3F2A188}"/>
          </ac:cxnSpMkLst>
        </pc:cxnChg>
        <pc:cxnChg chg="add del">
          <ac:chgData name="Pietro Filippo Schgor" userId="S::10710527@polimi.it::3b79221b-8856-43ef-81ae-db80fff86790" providerId="AD" clId="Web-{ACFF983D-2989-9381-B953-17771403286B}" dt="2025-11-11T12:45:41.216" v="20"/>
          <ac:cxnSpMkLst>
            <pc:docMk/>
            <pc:sldMk cId="991615614" sldId="259"/>
            <ac:cxnSpMk id="16" creationId="{E8F7F80F-9EDD-0EEA-B6D7-E116EBA4FAD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6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0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6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1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7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8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9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0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3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0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1331C-8271-FE1E-3E1C-E9A79E9D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253B4AD4-790E-ED64-E2DF-A99180959192}"/>
              </a:ext>
            </a:extLst>
          </p:cNvPr>
          <p:cNvSpPr txBox="1">
            <a:spLocks/>
          </p:cNvSpPr>
          <p:nvPr/>
        </p:nvSpPr>
        <p:spPr>
          <a:xfrm>
            <a:off x="703400" y="871759"/>
            <a:ext cx="10696120" cy="17038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400"/>
              <a:t>Socio-</a:t>
            </a:r>
            <a:r>
              <a:rPr lang="it-IT" sz="5400" err="1"/>
              <a:t>economics</a:t>
            </a:r>
            <a:r>
              <a:rPr lang="it-IT" sz="5400"/>
              <a:t> </a:t>
            </a:r>
            <a:r>
              <a:rPr lang="it-IT" sz="5400" err="1"/>
              <a:t>determinants</a:t>
            </a:r>
            <a:r>
              <a:rPr lang="it-IT" sz="5400"/>
              <a:t> of </a:t>
            </a:r>
            <a:r>
              <a:rPr lang="it-IT" sz="5400" err="1"/>
              <a:t>poverty</a:t>
            </a:r>
            <a:r>
              <a:rPr lang="it-IT" sz="5400"/>
              <a:t> in </a:t>
            </a:r>
            <a:r>
              <a:rPr lang="it-IT" sz="5400" err="1"/>
              <a:t>europe</a:t>
            </a:r>
            <a:endParaRPr lang="it-IT" sz="5400"/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4A5EBAC6-20D1-44C8-90F8-62A459C6BEC5}"/>
              </a:ext>
            </a:extLst>
          </p:cNvPr>
          <p:cNvSpPr txBox="1">
            <a:spLocks/>
          </p:cNvSpPr>
          <p:nvPr/>
        </p:nvSpPr>
        <p:spPr>
          <a:xfrm>
            <a:off x="703400" y="4090233"/>
            <a:ext cx="4857857" cy="100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/>
              <a:t>Tito Rodolfo </a:t>
            </a:r>
            <a:r>
              <a:rPr lang="it-IT" err="1"/>
              <a:t>Maraz</a:t>
            </a:r>
            <a:r>
              <a:rPr lang="it-IT"/>
              <a:t> Galassi - 278030</a:t>
            </a:r>
          </a:p>
          <a:p>
            <a:pPr marL="0" indent="0">
              <a:buNone/>
            </a:pPr>
            <a:r>
              <a:rPr lang="it-IT"/>
              <a:t>Leo Marcello Poli – 280899</a:t>
            </a:r>
          </a:p>
          <a:p>
            <a:pPr marL="0" indent="0">
              <a:buNone/>
            </a:pPr>
            <a:r>
              <a:rPr lang="it-IT"/>
              <a:t>Pietro Filippo </a:t>
            </a:r>
            <a:r>
              <a:rPr lang="it-IT" err="1"/>
              <a:t>Schgor</a:t>
            </a:r>
            <a:r>
              <a:rPr lang="it-IT"/>
              <a:t> - 258727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8719734-0815-C0BF-831A-4BC36107569A}"/>
              </a:ext>
            </a:extLst>
          </p:cNvPr>
          <p:cNvSpPr txBox="1"/>
          <p:nvPr/>
        </p:nvSpPr>
        <p:spPr>
          <a:xfrm>
            <a:off x="703400" y="5616909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Nonparametric</a:t>
            </a:r>
            <a:r>
              <a:rPr lang="it-IT"/>
              <a:t> </a:t>
            </a:r>
            <a:r>
              <a:rPr lang="it-IT" err="1"/>
              <a:t>Statistics</a:t>
            </a:r>
            <a:r>
              <a:rPr lang="it-IT"/>
              <a:t> 2025-2026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55101A1-289F-3F4A-530A-44D4AB055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284" y="3905300"/>
            <a:ext cx="2769236" cy="203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1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323F586-5F91-CB51-AE58-C2754DCFB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9"/>
            <a:ext cx="7377610" cy="2762982"/>
          </a:xfrm>
        </p:spPr>
        <p:txBody>
          <a:bodyPr>
            <a:normAutofit/>
          </a:bodyPr>
          <a:lstStyle/>
          <a:p>
            <a:r>
              <a:rPr lang="it-IT"/>
              <a:t>Socio-</a:t>
            </a:r>
            <a:r>
              <a:rPr lang="it-IT" err="1"/>
              <a:t>economics</a:t>
            </a:r>
            <a:r>
              <a:rPr lang="it-IT"/>
              <a:t> </a:t>
            </a:r>
            <a:r>
              <a:rPr lang="it-IT" err="1"/>
              <a:t>determinants</a:t>
            </a:r>
            <a:r>
              <a:rPr lang="it-IT"/>
              <a:t> of </a:t>
            </a:r>
            <a:r>
              <a:rPr lang="it-IT" err="1"/>
              <a:t>poverty</a:t>
            </a:r>
            <a:r>
              <a:rPr lang="it-IT"/>
              <a:t> in </a:t>
            </a:r>
            <a:r>
              <a:rPr lang="it-IT" err="1"/>
              <a:t>europe</a:t>
            </a:r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DD94448-E9D3-9080-6BEC-6AC5DFAC8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090233"/>
            <a:ext cx="4857857" cy="1005657"/>
          </a:xfrm>
        </p:spPr>
        <p:txBody>
          <a:bodyPr>
            <a:normAutofit fontScale="77500" lnSpcReduction="20000"/>
          </a:bodyPr>
          <a:lstStyle/>
          <a:p>
            <a:r>
              <a:rPr lang="it-IT"/>
              <a:t>Tito Rodolfo </a:t>
            </a:r>
            <a:r>
              <a:rPr lang="it-IT" err="1"/>
              <a:t>Maraz</a:t>
            </a:r>
            <a:r>
              <a:rPr lang="it-IT"/>
              <a:t> Galassi - 278030</a:t>
            </a:r>
          </a:p>
          <a:p>
            <a:r>
              <a:rPr lang="it-IT"/>
              <a:t>Leo Marcello Poli – 280899</a:t>
            </a:r>
          </a:p>
          <a:p>
            <a:r>
              <a:rPr lang="it-IT"/>
              <a:t>Pietro Filippo </a:t>
            </a:r>
            <a:r>
              <a:rPr lang="it-IT" err="1"/>
              <a:t>Schgor</a:t>
            </a:r>
            <a:r>
              <a:rPr lang="it-IT"/>
              <a:t> - 258727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>
            <a:extLst>
              <a:ext uri="{FF2B5EF4-FFF2-40B4-BE49-F238E27FC236}">
                <a16:creationId xmlns:a16="http://schemas.microsoft.com/office/drawing/2014/main" id="{61A278D8-7490-E2F7-60B9-20F390D3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570" y="4464298"/>
            <a:ext cx="2769236" cy="203522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B2F2BCD-64C3-E20E-A104-40FD7CCB00B3}"/>
              </a:ext>
            </a:extLst>
          </p:cNvPr>
          <p:cNvSpPr txBox="1"/>
          <p:nvPr/>
        </p:nvSpPr>
        <p:spPr>
          <a:xfrm>
            <a:off x="721688" y="5616909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err="1"/>
              <a:t>Nonparametric</a:t>
            </a:r>
            <a:r>
              <a:rPr lang="it-IT"/>
              <a:t> </a:t>
            </a:r>
            <a:r>
              <a:rPr lang="it-IT" err="1"/>
              <a:t>Statistics</a:t>
            </a:r>
            <a:r>
              <a:rPr lang="it-IT"/>
              <a:t> 2025-2026</a:t>
            </a:r>
          </a:p>
        </p:txBody>
      </p:sp>
    </p:spTree>
    <p:extLst>
      <p:ext uri="{BB962C8B-B14F-4D97-AF65-F5344CB8AC3E}">
        <p14:creationId xmlns:p14="http://schemas.microsoft.com/office/powerpoint/2010/main" val="362103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756542-B89E-A953-D711-75130667C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49020"/>
            <a:ext cx="10691265" cy="4345940"/>
          </a:xfrm>
        </p:spPr>
        <p:txBody>
          <a:bodyPr/>
          <a:lstStyle/>
          <a:p>
            <a:pPr marL="0" indent="0">
              <a:buNone/>
            </a:pPr>
            <a:r>
              <a:rPr lang="it-IT"/>
              <a:t>The dataset </a:t>
            </a:r>
            <a:r>
              <a:rPr lang="it-IT" err="1"/>
              <a:t>at</a:t>
            </a:r>
            <a:r>
              <a:rPr lang="it-IT"/>
              <a:t> the center of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analysis</a:t>
            </a:r>
            <a:r>
              <a:rPr lang="it-IT"/>
              <a:t>, </a:t>
            </a:r>
            <a:r>
              <a:rPr lang="it-IT" err="1"/>
              <a:t>sourced</a:t>
            </a:r>
            <a:r>
              <a:rPr lang="it-IT"/>
              <a:t> from </a:t>
            </a:r>
            <a:r>
              <a:rPr lang="it-IT" b="1"/>
              <a:t>Eurostat</a:t>
            </a:r>
            <a:r>
              <a:rPr lang="it-IT"/>
              <a:t>, combines </a:t>
            </a:r>
            <a:r>
              <a:rPr lang="it-IT" err="1"/>
              <a:t>two</a:t>
            </a:r>
            <a:r>
              <a:rPr lang="it-IT"/>
              <a:t> key </a:t>
            </a:r>
            <a:r>
              <a:rPr lang="it-IT" err="1"/>
              <a:t>indicators</a:t>
            </a:r>
            <a:r>
              <a:rPr lang="it-IT"/>
              <a:t>: the </a:t>
            </a:r>
            <a:r>
              <a:rPr lang="it-IT" b="1"/>
              <a:t>At-risk-of-</a:t>
            </a:r>
            <a:r>
              <a:rPr lang="it-IT" b="1" err="1"/>
              <a:t>poverty</a:t>
            </a:r>
            <a:r>
              <a:rPr lang="it-IT" b="1"/>
              <a:t> rate</a:t>
            </a:r>
            <a:r>
              <a:rPr lang="it-IT"/>
              <a:t> and </a:t>
            </a:r>
            <a:r>
              <a:rPr lang="it-IT" err="1"/>
              <a:t>detailed</a:t>
            </a:r>
            <a:r>
              <a:rPr lang="it-IT"/>
              <a:t> data on </a:t>
            </a:r>
            <a:r>
              <a:rPr lang="it-IT" b="1"/>
              <a:t>Social </a:t>
            </a:r>
            <a:r>
              <a:rPr lang="it-IT" b="1" err="1"/>
              <a:t>Protection</a:t>
            </a:r>
            <a:r>
              <a:rPr lang="it-IT" b="1"/>
              <a:t> </a:t>
            </a:r>
            <a:r>
              <a:rPr lang="it-IT" b="1" err="1"/>
              <a:t>Expenditure</a:t>
            </a:r>
            <a:r>
              <a:rPr lang="it-IT"/>
              <a:t>.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/>
              <a:t>The </a:t>
            </a:r>
            <a:r>
              <a:rPr lang="it-IT" err="1"/>
              <a:t>origin</a:t>
            </a:r>
            <a:r>
              <a:rPr lang="it-IT"/>
              <a:t> of </a:t>
            </a:r>
            <a:r>
              <a:rPr lang="it-IT" err="1"/>
              <a:t>this</a:t>
            </a:r>
            <a:r>
              <a:rPr lang="it-IT"/>
              <a:t> data </a:t>
            </a:r>
            <a:r>
              <a:rPr lang="it-IT" err="1"/>
              <a:t>is</a:t>
            </a:r>
            <a:r>
              <a:rPr lang="it-IT"/>
              <a:t> the EU-SILC (</a:t>
            </a:r>
            <a:r>
              <a:rPr lang="it-IT" err="1"/>
              <a:t>Statistics</a:t>
            </a:r>
            <a:r>
              <a:rPr lang="it-IT"/>
              <a:t> on </a:t>
            </a:r>
            <a:r>
              <a:rPr lang="it-IT" err="1"/>
              <a:t>Income</a:t>
            </a:r>
            <a:r>
              <a:rPr lang="it-IT"/>
              <a:t> and Living </a:t>
            </a:r>
            <a:r>
              <a:rPr lang="it-IT" err="1"/>
              <a:t>Conditions</a:t>
            </a:r>
            <a:r>
              <a:rPr lang="it-IT"/>
              <a:t>) survey,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collects</a:t>
            </a:r>
            <a:r>
              <a:rPr lang="it-IT"/>
              <a:t> </a:t>
            </a:r>
            <a:r>
              <a:rPr lang="it-IT" err="1"/>
              <a:t>multidimensional</a:t>
            </a:r>
            <a:r>
              <a:rPr lang="it-IT"/>
              <a:t> </a:t>
            </a:r>
            <a:r>
              <a:rPr lang="it-IT" err="1"/>
              <a:t>microdata</a:t>
            </a:r>
            <a:r>
              <a:rPr lang="it-IT"/>
              <a:t> on </a:t>
            </a:r>
            <a:r>
              <a:rPr lang="it-IT" err="1"/>
              <a:t>income</a:t>
            </a:r>
            <a:r>
              <a:rPr lang="it-IT"/>
              <a:t>, </a:t>
            </a:r>
            <a:r>
              <a:rPr lang="it-IT" err="1"/>
              <a:t>poverty</a:t>
            </a:r>
            <a:r>
              <a:rPr lang="it-IT"/>
              <a:t>, and social </a:t>
            </a:r>
            <a:r>
              <a:rPr lang="it-IT" err="1"/>
              <a:t>exclusion</a:t>
            </a:r>
            <a:r>
              <a:rPr lang="it-IT"/>
              <a:t>. EU-SILC </a:t>
            </a:r>
            <a:r>
              <a:rPr lang="it-IT" err="1"/>
              <a:t>uses</a:t>
            </a:r>
            <a:r>
              <a:rPr lang="it-IT"/>
              <a:t> a </a:t>
            </a:r>
            <a:r>
              <a:rPr lang="it-IT" err="1"/>
              <a:t>nationally</a:t>
            </a:r>
            <a:r>
              <a:rPr lang="it-IT"/>
              <a:t> </a:t>
            </a:r>
            <a:r>
              <a:rPr lang="it-IT" err="1"/>
              <a:t>representative</a:t>
            </a:r>
            <a:r>
              <a:rPr lang="it-IT"/>
              <a:t> sample of private </a:t>
            </a:r>
            <a:r>
              <a:rPr lang="it-IT" err="1"/>
              <a:t>households</a:t>
            </a:r>
            <a:r>
              <a:rPr lang="it-IT"/>
              <a:t>, </a:t>
            </a:r>
            <a:r>
              <a:rPr lang="it-IT" err="1"/>
              <a:t>combining</a:t>
            </a:r>
            <a:r>
              <a:rPr lang="it-IT"/>
              <a:t> survey and </a:t>
            </a:r>
            <a:r>
              <a:rPr lang="it-IT" err="1"/>
              <a:t>administrative</a:t>
            </a:r>
            <a:r>
              <a:rPr lang="it-IT"/>
              <a:t> data to </a:t>
            </a:r>
            <a:r>
              <a:rPr lang="it-IT" err="1"/>
              <a:t>ensure</a:t>
            </a:r>
            <a:r>
              <a:rPr lang="it-IT"/>
              <a:t> </a:t>
            </a:r>
            <a:r>
              <a:rPr lang="it-IT" err="1"/>
              <a:t>comparability</a:t>
            </a:r>
            <a:r>
              <a:rPr lang="it-IT"/>
              <a:t>.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/>
              <a:t>The </a:t>
            </a:r>
            <a:r>
              <a:rPr lang="it-IT" b="1" err="1"/>
              <a:t>objective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to </a:t>
            </a:r>
            <a:r>
              <a:rPr lang="it-IT" err="1"/>
              <a:t>analyze</a:t>
            </a:r>
            <a:r>
              <a:rPr lang="it-IT"/>
              <a:t> the </a:t>
            </a:r>
            <a:r>
              <a:rPr lang="it-IT" err="1"/>
              <a:t>relationship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b="1"/>
              <a:t>national social spending strategies</a:t>
            </a:r>
            <a:r>
              <a:rPr lang="it-IT"/>
              <a:t> and key </a:t>
            </a:r>
            <a:r>
              <a:rPr lang="it-IT" err="1"/>
              <a:t>socio-economic</a:t>
            </a:r>
            <a:r>
              <a:rPr lang="it-IT"/>
              <a:t> </a:t>
            </a:r>
            <a:r>
              <a:rPr lang="it-IT" err="1"/>
              <a:t>outcomes</a:t>
            </a:r>
            <a:r>
              <a:rPr lang="it-IT"/>
              <a:t> </a:t>
            </a:r>
            <a:r>
              <a:rPr lang="it-IT" err="1"/>
              <a:t>related</a:t>
            </a:r>
            <a:r>
              <a:rPr lang="it-IT"/>
              <a:t> to </a:t>
            </a:r>
            <a:r>
              <a:rPr lang="it-IT" b="1" err="1"/>
              <a:t>poverty</a:t>
            </a:r>
            <a:r>
              <a:rPr lang="it-I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68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417D-E8E7-150F-4A17-4180B082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C474CE-15AE-C9E6-9AAC-F09908C5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49020"/>
            <a:ext cx="10691265" cy="43459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it-IT" err="1"/>
              <a:t>Curves</a:t>
            </a:r>
            <a:r>
              <a:rPr lang="it-IT"/>
              <a:t> of At-risk-of-</a:t>
            </a:r>
            <a:r>
              <a:rPr lang="it-IT" err="1"/>
              <a:t>poverty</a:t>
            </a:r>
            <a:r>
              <a:rPr lang="it-IT"/>
              <a:t> rate from 2015 to 2024 of a </a:t>
            </a:r>
            <a:r>
              <a:rPr lang="it-IT" err="1"/>
              <a:t>selection</a:t>
            </a:r>
            <a:r>
              <a:rPr lang="it-IT"/>
              <a:t> of Countries</a:t>
            </a:r>
          </a:p>
        </p:txBody>
      </p:sp>
      <p:pic>
        <p:nvPicPr>
          <p:cNvPr id="4" name="Immagine 3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FBA3AB66-DEDD-E814-52FE-8861A7A77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7"/>
          <a:stretch>
            <a:fillRect/>
          </a:stretch>
        </p:blipFill>
        <p:spPr>
          <a:xfrm>
            <a:off x="2047195" y="1714499"/>
            <a:ext cx="7999582" cy="437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1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0139B0-F182-12E7-709E-063665977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89A191-58D1-59B4-B1FD-349030AE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109844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PowerPoint Presentation</vt:lpstr>
      <vt:lpstr>Socio-economics determinants of poverty in europe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Marcello Poli</dc:creator>
  <cp:revision>1</cp:revision>
  <dcterms:created xsi:type="dcterms:W3CDTF">2025-11-11T11:14:47Z</dcterms:created>
  <dcterms:modified xsi:type="dcterms:W3CDTF">2025-11-11T12:48:33Z</dcterms:modified>
</cp:coreProperties>
</file>